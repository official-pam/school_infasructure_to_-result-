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8F5F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914400"/>
            <a:ext cx="11277295" cy="731520"/>
          </a:xfrm>
          <a:prstGeom prst="rect">
            <a:avLst/>
          </a:prstGeom>
          <a:noFill/>
          <a:ln/>
        </p:spPr>
        <p:txBody>
          <a:bodyPr wrap="square" rtlCol="0"/>
          <a:lstStyle>
            <a:lvl1pPr algn="l" indent="0" marL="0">
              <a:buNone/>
              <a:defRPr lang="en-US" sz="3400" b="1" dirty="0">
                <a:solidFill>
                  <a:srgbClr val="0F2A1D"/>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457200" y="6510528"/>
            <a:ext cx="5486400" cy="228600"/>
          </a:xfrm>
          <a:prstGeom prst="rect">
            <a:avLst/>
          </a:prstGeom>
          <a:noFill/>
          <a:ln/>
        </p:spPr>
        <p:txBody>
          <a:bodyPr wrap="square" lIns="0" tIns="0" rIns="0" bIns="0" rtlCol="0" anchor="ctr"/>
          <a:lstStyle/>
          <a:p>
            <a:pPr indent="0" marL="0">
              <a:buNone/>
            </a:pPr>
            <a:r>
              <a:rPr lang="en-US" sz="900" dirty="0">
                <a:solidFill>
                  <a:srgbClr val="6B6B6B"/>
                </a:solidFill>
                <a:latin typeface="Calibri" pitchFamily="34" charset="0"/>
                <a:ea typeface="Calibri" pitchFamily="34" charset="-122"/>
                <a:cs typeface="Calibri" pitchFamily="34" charset="-120"/>
              </a:rPr>
              <a:t>Group 6  |  School Infrastructure &amp; Learning Conditions</a:t>
            </a:r>
            <a:endParaRPr lang="en-US" sz="900" dirty="0"/>
          </a:p>
        </p:txBody>
      </p:sp>
      <p:sp>
        <p:nvSpPr>
          <p:cNvPr id="25" name="Slide Number Placeholder 0"/>
          <p:cNvSpPr>
            <a:spLocks noGrp="1"/>
          </p:cNvSpPr>
          <p:nvPr>
            <p:ph type="sldNum" sz="quarter" idx="4294967295"/>
          </p:nvPr>
        </p:nvSpPr>
        <p:spPr>
          <a:xfrm>
            <a:off x="11277295" y="6510528"/>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510528"/>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1D"/>
        </a:solidFill>
      </p:bgPr>
    </p:bg>
    <p:spTree>
      <p:nvGrpSpPr>
        <p:cNvPr id="1" name=""/>
        <p:cNvGrpSpPr/>
        <p:nvPr/>
      </p:nvGrpSpPr>
      <p:grpSpPr>
        <a:xfrm>
          <a:off x="0" y="0"/>
          <a:ext cx="0" cy="0"/>
          <a:chOff x="0" y="0"/>
          <a:chExt cx="0" cy="0"/>
        </a:xfrm>
      </p:grpSpPr>
      <p:sp>
        <p:nvSpPr>
          <p:cNvPr id="2" name="Text 0"/>
          <p:cNvSpPr txBox="1"/>
          <p:nvPr/>
        </p:nvSpPr>
        <p:spPr>
          <a:xfrm>
            <a:off x="822960" y="1874520"/>
            <a:ext cx="10607040" cy="132588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SCHOOL INFRASTRUCTURE &amp; LEARNING CONDITIONS</a:t>
            </a:r>
            <a:endParaRPr lang="en-US" sz="4000" dirty="0"/>
          </a:p>
        </p:txBody>
      </p:sp>
      <p:sp>
        <p:nvSpPr>
          <p:cNvPr id="3" name="Text 1"/>
          <p:cNvSpPr txBox="1"/>
          <p:nvPr/>
        </p:nvSpPr>
        <p:spPr>
          <a:xfrm>
            <a:off x="822960" y="3246120"/>
            <a:ext cx="10607040" cy="411480"/>
          </a:xfrm>
          <a:prstGeom prst="rect">
            <a:avLst/>
          </a:prstGeom>
          <a:noFill/>
          <a:ln/>
        </p:spPr>
        <p:txBody>
          <a:bodyPr wrap="square" lIns="0" tIns="0" rIns="0" bIns="0" rtlCol="0" anchor="ctr"/>
          <a:lstStyle/>
          <a:p>
            <a:pPr indent="0" marL="0">
              <a:buNone/>
            </a:pPr>
            <a:r>
              <a:rPr lang="en-US" sz="1800" i="1" dirty="0">
                <a:solidFill>
                  <a:srgbClr val="FFFFFF"/>
                </a:solidFill>
                <a:latin typeface="Calibri" pitchFamily="34" charset="0"/>
                <a:ea typeface="Calibri" pitchFamily="34" charset="-122"/>
                <a:cs typeface="Calibri" pitchFamily="34" charset="-120"/>
              </a:rPr>
              <a:t>Identifying the educational resources most closely associated with student outcomes</a:t>
            </a:r>
            <a:endParaRPr lang="en-US" sz="1800" dirty="0"/>
          </a:p>
        </p:txBody>
      </p:sp>
      <p:sp>
        <p:nvSpPr>
          <p:cNvPr id="4" name="title rule"/>
          <p:cNvSpPr/>
          <p:nvPr/>
        </p:nvSpPr>
        <p:spPr>
          <a:xfrm>
            <a:off x="822960" y="3813048"/>
            <a:ext cx="10515600" cy="0"/>
          </a:xfrm>
          <a:prstGeom prst="line">
            <a:avLst/>
          </a:prstGeom>
          <a:noFill/>
          <a:ln w="38100">
            <a:solidFill>
              <a:srgbClr val="D4A373"/>
            </a:solidFill>
            <a:prstDash val="solid"/>
          </a:ln>
        </p:spPr>
      </p:sp>
      <p:sp>
        <p:nvSpPr>
          <p:cNvPr id="5" name="Text 3"/>
          <p:cNvSpPr txBox="1"/>
          <p:nvPr/>
        </p:nvSpPr>
        <p:spPr>
          <a:xfrm>
            <a:off x="822960" y="3977640"/>
            <a:ext cx="5486400" cy="640080"/>
          </a:xfrm>
          <a:prstGeom prst="rect">
            <a:avLst/>
          </a:prstGeom>
          <a:noFill/>
          <a:ln/>
        </p:spPr>
        <p:txBody>
          <a:bodyPr wrap="square" lIns="0" tIns="0" rIns="0" bIns="0" rtlCol="0" anchor="ctr"/>
          <a:lstStyle/>
          <a:p>
            <a:pPr indent="0" marL="0">
              <a:buNone/>
            </a:pPr>
            <a:r>
              <a:rPr lang="en-US" sz="3600" dirty="0">
                <a:solidFill>
                  <a:srgbClr val="FFFFFF"/>
                </a:solidFill>
                <a:latin typeface="Cambria" pitchFamily="34" charset="0"/>
                <a:ea typeface="Cambria" pitchFamily="34" charset="-122"/>
                <a:cs typeface="Cambria" pitchFamily="34" charset="-120"/>
              </a:rPr>
              <a:t>Group 6</a:t>
            </a: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pill"/>
          <p:cNvSpPr/>
          <p:nvPr/>
        </p:nvSpPr>
        <p:spPr>
          <a:xfrm>
            <a:off x="457200" y="411480"/>
            <a:ext cx="2194560" cy="347472"/>
          </a:xfrm>
          <a:prstGeom prst="roundRect">
            <a:avLst>
              <a:gd name="adj" fmla="val 50000"/>
            </a:avLst>
          </a:prstGeom>
          <a:solidFill>
            <a:srgbClr val="D4A373"/>
          </a:solidFill>
          <a:ln w="12700">
            <a:solidFill>
              <a:srgbClr val="D4A373"/>
            </a:solidFill>
            <a:prstDash val="solid"/>
          </a:ln>
        </p:spPr>
      </p:sp>
      <p:sp>
        <p:nvSpPr>
          <p:cNvPr id="3" name="Text 1"/>
          <p:cNvSpPr txBox="1"/>
          <p:nvPr/>
        </p:nvSpPr>
        <p:spPr>
          <a:xfrm>
            <a:off x="457200" y="411480"/>
            <a:ext cx="2194560" cy="347472"/>
          </a:xfrm>
          <a:prstGeom prst="rect">
            <a:avLst/>
          </a:prstGeom>
          <a:noFill/>
          <a:ln/>
        </p:spPr>
        <p:txBody>
          <a:bodyPr wrap="square" lIns="0" tIns="0" rIns="0" bIns="0" rtlCol="0" anchor="ctr"/>
          <a:lstStyle/>
          <a:p>
            <a:pPr algn="ctr" indent="0" marL="0">
              <a:buNone/>
            </a:pPr>
            <a:r>
              <a:rPr lang="en-US" sz="1100" b="1" spc="150" kern="0" dirty="0">
                <a:solidFill>
                  <a:srgbClr val="0F2A1D"/>
                </a:solidFill>
                <a:latin typeface="Calibri" pitchFamily="34" charset="0"/>
                <a:ea typeface="Calibri" pitchFamily="34" charset="-122"/>
                <a:cs typeface="Calibri" pitchFamily="34" charset="-120"/>
              </a:rPr>
              <a:t>INTRODUCTION</a:t>
            </a:r>
            <a:endParaRPr lang="en-US" sz="1100" dirty="0"/>
          </a:p>
        </p:txBody>
      </p:sp>
      <p:sp>
        <p:nvSpPr>
          <p:cNvPr id="4" name="Text 0"/>
          <p:cNvSpPr/>
          <p:nvPr>
            <p:ph idx="100" type="title" hasCustomPrompt="1"/>
          </p:nvPr>
        </p:nvSpPr>
        <p:spPr>
          <a:xfrm>
            <a:off x="457200" y="914400"/>
            <a:ext cx="11277295" cy="731520"/>
          </a:xfrm>
          <a:prstGeom prst="rect">
            <a:avLst/>
          </a:prstGeom>
          <a:noFill/>
          <a:ln/>
        </p:spPr>
        <p:txBody>
          <a:bodyPr wrap="square" lIns="0" tIns="0" rIns="0" bIns="0" rtlCol="0" anchor="ctr"/>
          <a:lstStyle/>
          <a:p>
            <a:pPr algn="l" indent="0" marL="0">
              <a:buNone/>
            </a:pPr>
            <a:r>
              <a:rPr lang="en-US" sz="3400" b="1" dirty="0">
                <a:solidFill>
                  <a:srgbClr val="0F2A1D"/>
                </a:solidFill>
                <a:latin typeface="Cambria" pitchFamily="34" charset="0"/>
                <a:ea typeface="Cambria" pitchFamily="34" charset="-122"/>
                <a:cs typeface="Cambria" pitchFamily="34" charset="-120"/>
              </a:rPr>
              <a:t>Background of the Study</a:t>
            </a:r>
            <a:endParaRPr lang="en-US" sz="3400" dirty="0"/>
          </a:p>
        </p:txBody>
      </p:sp>
      <p:sp>
        <p:nvSpPr>
          <p:cNvPr id="5" name="card"/>
          <p:cNvSpPr/>
          <p:nvPr/>
        </p:nvSpPr>
        <p:spPr>
          <a:xfrm>
            <a:off x="457200" y="1783080"/>
            <a:ext cx="6675120" cy="4297680"/>
          </a:xfrm>
          <a:prstGeom prst="rect">
            <a:avLst/>
          </a:prstGeom>
          <a:solidFill>
            <a:srgbClr val="FFFFFF"/>
          </a:solidFill>
          <a:ln w="9525">
            <a:solidFill>
              <a:srgbClr val="E5E0D8"/>
            </a:solidFill>
            <a:prstDash val="solid"/>
          </a:ln>
        </p:spPr>
      </p:sp>
      <p:sp>
        <p:nvSpPr>
          <p:cNvPr id="6" name="Text 4"/>
          <p:cNvSpPr txBox="1"/>
          <p:nvPr/>
        </p:nvSpPr>
        <p:spPr>
          <a:xfrm>
            <a:off x="731520" y="2057400"/>
            <a:ext cx="6126480" cy="3749040"/>
          </a:xfrm>
          <a:prstGeom prst="rect">
            <a:avLst/>
          </a:prstGeom>
          <a:noFill/>
          <a:ln/>
        </p:spPr>
        <p:txBody>
          <a:bodyPr wrap="square" lIns="0" tIns="0" rIns="0" bIns="0" rtlCol="0" anchor="ctr"/>
          <a:lstStyle/>
          <a:p>
            <a:pPr indent="0" marL="0">
              <a:buNone/>
            </a:pPr>
            <a:r>
              <a:rPr lang="en-US" sz="1800" dirty="0">
                <a:solidFill>
                  <a:srgbClr val="2B2B2B"/>
                </a:solidFill>
                <a:latin typeface="Calibri" pitchFamily="34" charset="0"/>
                <a:ea typeface="Calibri" pitchFamily="34" charset="-122"/>
                <a:cs typeface="Calibri" pitchFamily="34" charset="-120"/>
              </a:rPr>
              <a:t>WAEC results are the main measure of secondary-school achievements and credits in five major subjects, including English and Maths, is one of the benchmarks used for entry into university. As a result of this, schools invest in teachers, classrooms, and other resources to improve said benchmark. This research project aims to find out which of these resources are closely associated with student outcomes.</a:t>
            </a:r>
            <a:endParaRPr lang="en-US" sz="1800" dirty="0"/>
          </a:p>
        </p:txBody>
      </p:sp>
      <p:sp>
        <p:nvSpPr>
          <p:cNvPr id="7" name="card"/>
          <p:cNvSpPr/>
          <p:nvPr/>
        </p:nvSpPr>
        <p:spPr>
          <a:xfrm>
            <a:off x="7452360" y="1783080"/>
            <a:ext cx="4297680" cy="4297680"/>
          </a:xfrm>
          <a:prstGeom prst="rect">
            <a:avLst/>
          </a:prstGeom>
          <a:solidFill>
            <a:srgbClr val="1B4332"/>
          </a:solidFill>
          <a:ln w="9525">
            <a:solidFill>
              <a:srgbClr val="1B4332"/>
            </a:solidFill>
            <a:prstDash val="solid"/>
          </a:ln>
        </p:spPr>
      </p:sp>
      <p:sp>
        <p:nvSpPr>
          <p:cNvPr id="8" name="Text 6"/>
          <p:cNvSpPr txBox="1"/>
          <p:nvPr/>
        </p:nvSpPr>
        <p:spPr>
          <a:xfrm>
            <a:off x="7452360" y="1874520"/>
            <a:ext cx="4297680" cy="7772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37</a:t>
            </a:r>
            <a:endParaRPr lang="en-US" sz="5400" dirty="0"/>
          </a:p>
        </p:txBody>
      </p:sp>
      <p:sp>
        <p:nvSpPr>
          <p:cNvPr id="9" name="Text 7"/>
          <p:cNvSpPr txBox="1"/>
          <p:nvPr/>
        </p:nvSpPr>
        <p:spPr>
          <a:xfrm>
            <a:off x="7452360" y="2651760"/>
            <a:ext cx="4297680" cy="32004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states, including the FCT</a:t>
            </a:r>
            <a:endParaRPr lang="en-US" sz="1500" dirty="0"/>
          </a:p>
        </p:txBody>
      </p:sp>
      <p:sp>
        <p:nvSpPr>
          <p:cNvPr id="10" name="Text 8"/>
          <p:cNvSpPr txBox="1"/>
          <p:nvPr/>
        </p:nvSpPr>
        <p:spPr>
          <a:xfrm>
            <a:off x="7452360" y="3337560"/>
            <a:ext cx="4297680" cy="7772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6</a:t>
            </a:r>
            <a:endParaRPr lang="en-US" sz="5400" dirty="0"/>
          </a:p>
        </p:txBody>
      </p:sp>
      <p:sp>
        <p:nvSpPr>
          <p:cNvPr id="11" name="Text 9"/>
          <p:cNvSpPr txBox="1"/>
          <p:nvPr/>
        </p:nvSpPr>
        <p:spPr>
          <a:xfrm>
            <a:off x="7452360" y="4114800"/>
            <a:ext cx="4297680" cy="32004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years of data (2016–2021)</a:t>
            </a:r>
            <a:endParaRPr lang="en-US" sz="1500" dirty="0"/>
          </a:p>
        </p:txBody>
      </p:sp>
      <p:sp>
        <p:nvSpPr>
          <p:cNvPr id="12" name="Text 10"/>
          <p:cNvSpPr txBox="1"/>
          <p:nvPr/>
        </p:nvSpPr>
        <p:spPr>
          <a:xfrm>
            <a:off x="7452360" y="4800600"/>
            <a:ext cx="4297680" cy="77724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2</a:t>
            </a:r>
            <a:endParaRPr lang="en-US" sz="5400" dirty="0"/>
          </a:p>
        </p:txBody>
      </p:sp>
      <p:sp>
        <p:nvSpPr>
          <p:cNvPr id="13" name="Text 11"/>
          <p:cNvSpPr txBox="1"/>
          <p:nvPr/>
        </p:nvSpPr>
        <p:spPr>
          <a:xfrm>
            <a:off x="7452360" y="5577840"/>
            <a:ext cx="4297680" cy="320040"/>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school sectors (public and private)</a:t>
            </a:r>
            <a:endParaRPr lang="en-US" sz="1500" dirty="0"/>
          </a:p>
        </p:txBody>
      </p:sp>
      <p:sp>
        <p:nvSpPr>
          <p:cNvPr id="25" name="Slide Number Placeholder 0"/>
          <p:cNvSpPr>
            <a:spLocks noGrp="1"/>
          </p:cNvSpPr>
          <p:nvPr>
            <p:ph type="sldNum" sz="quarter" idx="4294967295"/>
          </p:nvPr>
        </p:nvSpPr>
        <p:spPr>
          <a:xfrm>
            <a:off x="11277295" y="6510528"/>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pill"/>
          <p:cNvSpPr/>
          <p:nvPr/>
        </p:nvSpPr>
        <p:spPr>
          <a:xfrm>
            <a:off x="457200" y="411480"/>
            <a:ext cx="2194560" cy="347472"/>
          </a:xfrm>
          <a:prstGeom prst="roundRect">
            <a:avLst>
              <a:gd name="adj" fmla="val 50000"/>
            </a:avLst>
          </a:prstGeom>
          <a:solidFill>
            <a:srgbClr val="D4A373"/>
          </a:solidFill>
          <a:ln w="12700">
            <a:solidFill>
              <a:srgbClr val="D4A373"/>
            </a:solidFill>
            <a:prstDash val="solid"/>
          </a:ln>
        </p:spPr>
      </p:sp>
      <p:sp>
        <p:nvSpPr>
          <p:cNvPr id="3" name="Text 1"/>
          <p:cNvSpPr txBox="1"/>
          <p:nvPr/>
        </p:nvSpPr>
        <p:spPr>
          <a:xfrm>
            <a:off x="457200" y="411480"/>
            <a:ext cx="2194560" cy="347472"/>
          </a:xfrm>
          <a:prstGeom prst="rect">
            <a:avLst/>
          </a:prstGeom>
          <a:noFill/>
          <a:ln/>
        </p:spPr>
        <p:txBody>
          <a:bodyPr wrap="square" lIns="0" tIns="0" rIns="0" bIns="0" rtlCol="0" anchor="ctr"/>
          <a:lstStyle/>
          <a:p>
            <a:pPr algn="ctr" indent="0" marL="0">
              <a:buNone/>
            </a:pPr>
            <a:r>
              <a:rPr lang="en-US" sz="1100" b="1" spc="150" kern="0" dirty="0">
                <a:solidFill>
                  <a:srgbClr val="0F2A1D"/>
                </a:solidFill>
                <a:latin typeface="Calibri" pitchFamily="34" charset="0"/>
                <a:ea typeface="Calibri" pitchFamily="34" charset="-122"/>
                <a:cs typeface="Calibri" pitchFamily="34" charset="-120"/>
              </a:rPr>
              <a:t>INTRODUCTION</a:t>
            </a:r>
            <a:endParaRPr lang="en-US" sz="1100" dirty="0"/>
          </a:p>
        </p:txBody>
      </p:sp>
      <p:sp>
        <p:nvSpPr>
          <p:cNvPr id="4" name="Text 0"/>
          <p:cNvSpPr/>
          <p:nvPr>
            <p:ph idx="100" type="title" hasCustomPrompt="1"/>
          </p:nvPr>
        </p:nvSpPr>
        <p:spPr>
          <a:xfrm>
            <a:off x="457200" y="914400"/>
            <a:ext cx="11277295" cy="731520"/>
          </a:xfrm>
          <a:prstGeom prst="rect">
            <a:avLst/>
          </a:prstGeom>
          <a:noFill/>
          <a:ln/>
        </p:spPr>
        <p:txBody>
          <a:bodyPr wrap="square" lIns="0" tIns="0" rIns="0" bIns="0" rtlCol="0" anchor="ctr"/>
          <a:lstStyle/>
          <a:p>
            <a:pPr algn="l" indent="0" marL="0">
              <a:buNone/>
            </a:pPr>
            <a:r>
              <a:rPr lang="en-US" sz="3400" b="1" dirty="0">
                <a:solidFill>
                  <a:srgbClr val="0F2A1D"/>
                </a:solidFill>
                <a:latin typeface="Cambria" pitchFamily="34" charset="0"/>
                <a:ea typeface="Cambria" pitchFamily="34" charset="-122"/>
                <a:cs typeface="Cambria" pitchFamily="34" charset="-120"/>
              </a:rPr>
              <a:t>Problem Statement &amp; Objectives</a:t>
            </a:r>
            <a:endParaRPr lang="en-US" sz="3400" dirty="0"/>
          </a:p>
        </p:txBody>
      </p:sp>
      <p:sp>
        <p:nvSpPr>
          <p:cNvPr id="5" name="card"/>
          <p:cNvSpPr/>
          <p:nvPr/>
        </p:nvSpPr>
        <p:spPr>
          <a:xfrm>
            <a:off x="457200" y="1783080"/>
            <a:ext cx="5394960" cy="4297680"/>
          </a:xfrm>
          <a:prstGeom prst="rect">
            <a:avLst/>
          </a:prstGeom>
          <a:solidFill>
            <a:srgbClr val="FFFFFF"/>
          </a:solidFill>
          <a:ln w="9525">
            <a:solidFill>
              <a:srgbClr val="E5E0D8"/>
            </a:solidFill>
            <a:prstDash val="solid"/>
          </a:ln>
        </p:spPr>
      </p:sp>
      <p:sp>
        <p:nvSpPr>
          <p:cNvPr id="6" name="Text 4"/>
          <p:cNvSpPr txBox="1"/>
          <p:nvPr/>
        </p:nvSpPr>
        <p:spPr>
          <a:xfrm>
            <a:off x="731520" y="1965960"/>
            <a:ext cx="4846320" cy="411480"/>
          </a:xfrm>
          <a:prstGeom prst="rect">
            <a:avLst/>
          </a:prstGeom>
          <a:noFill/>
          <a:ln/>
        </p:spPr>
        <p:txBody>
          <a:bodyPr wrap="square" lIns="0" tIns="0" rIns="0" bIns="0" rtlCol="0" anchor="ctr"/>
          <a:lstStyle/>
          <a:p>
            <a:pPr indent="0" marL="0">
              <a:buNone/>
            </a:pPr>
            <a:r>
              <a:rPr lang="en-US" sz="2000" b="1" dirty="0">
                <a:solidFill>
                  <a:srgbClr val="1B4332"/>
                </a:solidFill>
                <a:latin typeface="Cambria" pitchFamily="34" charset="0"/>
                <a:ea typeface="Cambria" pitchFamily="34" charset="-122"/>
                <a:cs typeface="Cambria" pitchFamily="34" charset="-120"/>
              </a:rPr>
              <a:t>Problem Statement</a:t>
            </a:r>
            <a:endParaRPr lang="en-US" sz="2000" dirty="0"/>
          </a:p>
        </p:txBody>
      </p:sp>
      <p:sp>
        <p:nvSpPr>
          <p:cNvPr id="7" name="Text 5"/>
          <p:cNvSpPr txBox="1"/>
          <p:nvPr/>
        </p:nvSpPr>
        <p:spPr>
          <a:xfrm>
            <a:off x="731520" y="2468880"/>
            <a:ext cx="4846320" cy="3383280"/>
          </a:xfrm>
          <a:prstGeom prst="rect">
            <a:avLst/>
          </a:prstGeom>
          <a:noFill/>
          <a:ln/>
        </p:spPr>
        <p:txBody>
          <a:bodyPr wrap="square" lIns="0" tIns="0" rIns="0" bIns="0" rtlCol="0" anchor="t"/>
          <a:lstStyle/>
          <a:p>
            <a:pPr indent="0" marL="0">
              <a:buNone/>
            </a:pPr>
            <a:r>
              <a:rPr lang="en-US" sz="1600" dirty="0">
                <a:solidFill>
                  <a:srgbClr val="1B4332"/>
                </a:solidFill>
                <a:latin typeface="Calibri" pitchFamily="34" charset="0"/>
                <a:ea typeface="Calibri" pitchFamily="34" charset="-122"/>
                <a:cs typeface="Calibri" pitchFamily="34" charset="-120"/>
              </a:rPr>
              <a:t>Resource gaps exist between states and sectors, but it is not clear which of these resources (amount of teachers per student, teacher qualification, classroom condition, or toilet provision) are most closely linked to the desired outcomes (credits in core WAEC subjects). Without this knowledge, investment can be wasted on resources that don't matter.</a:t>
            </a:r>
            <a:endParaRPr lang="en-US" sz="1600" dirty="0"/>
          </a:p>
        </p:txBody>
      </p:sp>
      <p:sp>
        <p:nvSpPr>
          <p:cNvPr id="8" name="card"/>
          <p:cNvSpPr/>
          <p:nvPr/>
        </p:nvSpPr>
        <p:spPr>
          <a:xfrm>
            <a:off x="6355080" y="1783080"/>
            <a:ext cx="5394960" cy="4297680"/>
          </a:xfrm>
          <a:prstGeom prst="rect">
            <a:avLst/>
          </a:prstGeom>
          <a:solidFill>
            <a:srgbClr val="1B4332"/>
          </a:solidFill>
          <a:ln w="9525">
            <a:solidFill>
              <a:srgbClr val="1B4332"/>
            </a:solidFill>
            <a:prstDash val="solid"/>
          </a:ln>
        </p:spPr>
      </p:sp>
      <p:sp>
        <p:nvSpPr>
          <p:cNvPr id="9" name="Text 7"/>
          <p:cNvSpPr txBox="1"/>
          <p:nvPr/>
        </p:nvSpPr>
        <p:spPr>
          <a:xfrm>
            <a:off x="6629400" y="1965960"/>
            <a:ext cx="4846320" cy="4114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Objectives</a:t>
            </a:r>
            <a:endParaRPr lang="en-US" sz="2000" dirty="0"/>
          </a:p>
        </p:txBody>
      </p:sp>
      <p:sp>
        <p:nvSpPr>
          <p:cNvPr id="10" name="Text 8"/>
          <p:cNvSpPr txBox="1"/>
          <p:nvPr/>
        </p:nvSpPr>
        <p:spPr>
          <a:xfrm>
            <a:off x="6629400" y="2468880"/>
            <a:ext cx="4846320" cy="338328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Build a clean, comparable state-by-sector panel of educational resources and WAEC outcomes across a six-year period (2016 – 2021).</a:t>
            </a:r>
            <a:endParaRPr lang="en-US" sz="1600" dirty="0"/>
          </a:p>
          <a:p>
            <a:pPr marL="342900" indent="-3429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Use correlation to identify the resource(s) most closely associated with the outcome.</a:t>
            </a:r>
            <a:endParaRPr lang="en-US" sz="1600" dirty="0"/>
          </a:p>
          <a:p>
            <a:pPr marL="342900" indent="-342900">
              <a:spcAft>
                <a:spcPts val="1200"/>
              </a:spcAft>
              <a:buSzPct val="100000"/>
              <a:buChar char="•"/>
            </a:pPr>
            <a:r>
              <a:rPr lang="en-US" sz="1600" dirty="0">
                <a:solidFill>
                  <a:srgbClr val="FFFFFF"/>
                </a:solidFill>
                <a:latin typeface="Calibri" pitchFamily="34" charset="0"/>
                <a:ea typeface="Calibri" pitchFamily="34" charset="-122"/>
                <a:cs typeface="Calibri" pitchFamily="34" charset="-120"/>
              </a:rPr>
              <a:t>Use partial correlation to test which resource(s) remain associated with outcomes when other resources are accounted for.</a:t>
            </a:r>
            <a:endParaRPr lang="en-US" sz="1600" dirty="0"/>
          </a:p>
        </p:txBody>
      </p:sp>
      <p:sp>
        <p:nvSpPr>
          <p:cNvPr id="25" name="Slide Number Placeholder 0"/>
          <p:cNvSpPr>
            <a:spLocks noGrp="1"/>
          </p:cNvSpPr>
          <p:nvPr>
            <p:ph type="sldNum" sz="quarter" idx="4294967295"/>
          </p:nvPr>
        </p:nvSpPr>
        <p:spPr>
          <a:xfrm>
            <a:off x="11277295" y="6510528"/>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pill"/>
          <p:cNvSpPr/>
          <p:nvPr/>
        </p:nvSpPr>
        <p:spPr>
          <a:xfrm>
            <a:off x="457200" y="411480"/>
            <a:ext cx="2194560" cy="347472"/>
          </a:xfrm>
          <a:prstGeom prst="roundRect">
            <a:avLst>
              <a:gd name="adj" fmla="val 50000"/>
            </a:avLst>
          </a:prstGeom>
          <a:solidFill>
            <a:srgbClr val="D4A373"/>
          </a:solidFill>
          <a:ln w="12700">
            <a:solidFill>
              <a:srgbClr val="D4A373"/>
            </a:solidFill>
            <a:prstDash val="solid"/>
          </a:ln>
        </p:spPr>
      </p:sp>
      <p:sp>
        <p:nvSpPr>
          <p:cNvPr id="3" name="Text 1"/>
          <p:cNvSpPr txBox="1"/>
          <p:nvPr/>
        </p:nvSpPr>
        <p:spPr>
          <a:xfrm>
            <a:off x="457200" y="411480"/>
            <a:ext cx="2194560" cy="347472"/>
          </a:xfrm>
          <a:prstGeom prst="rect">
            <a:avLst/>
          </a:prstGeom>
          <a:noFill/>
          <a:ln/>
        </p:spPr>
        <p:txBody>
          <a:bodyPr wrap="square" lIns="0" tIns="0" rIns="0" bIns="0" rtlCol="0" anchor="ctr"/>
          <a:lstStyle/>
          <a:p>
            <a:pPr algn="ctr" indent="0" marL="0">
              <a:buNone/>
            </a:pPr>
            <a:r>
              <a:rPr lang="en-US" sz="1100" b="1" spc="150" kern="0" dirty="0">
                <a:solidFill>
                  <a:srgbClr val="0F2A1D"/>
                </a:solidFill>
                <a:latin typeface="Calibri" pitchFamily="34" charset="0"/>
                <a:ea typeface="Calibri" pitchFamily="34" charset="-122"/>
                <a:cs typeface="Calibri" pitchFamily="34" charset="-120"/>
              </a:rPr>
              <a:t>INTRODUCTION</a:t>
            </a:r>
            <a:endParaRPr lang="en-US" sz="1100" dirty="0"/>
          </a:p>
        </p:txBody>
      </p:sp>
      <p:sp>
        <p:nvSpPr>
          <p:cNvPr id="4" name="Text 0"/>
          <p:cNvSpPr/>
          <p:nvPr>
            <p:ph idx="100" type="title" hasCustomPrompt="1"/>
          </p:nvPr>
        </p:nvSpPr>
        <p:spPr>
          <a:xfrm>
            <a:off x="457200" y="914400"/>
            <a:ext cx="11277295" cy="731520"/>
          </a:xfrm>
          <a:prstGeom prst="rect">
            <a:avLst/>
          </a:prstGeom>
          <a:noFill/>
          <a:ln/>
        </p:spPr>
        <p:txBody>
          <a:bodyPr wrap="square" lIns="0" tIns="0" rIns="0" bIns="0" rtlCol="0" anchor="ctr"/>
          <a:lstStyle/>
          <a:p>
            <a:pPr algn="l" indent="0" marL="0">
              <a:buNone/>
            </a:pPr>
            <a:r>
              <a:rPr lang="en-US" sz="3400" b="1" dirty="0">
                <a:solidFill>
                  <a:srgbClr val="0F2A1D"/>
                </a:solidFill>
                <a:latin typeface="Cambria" pitchFamily="34" charset="0"/>
                <a:ea typeface="Cambria" pitchFamily="34" charset="-122"/>
                <a:cs typeface="Cambria" pitchFamily="34" charset="-120"/>
              </a:rPr>
              <a:t>Limitations</a:t>
            </a:r>
            <a:endParaRPr lang="en-US" sz="3400" dirty="0"/>
          </a:p>
        </p:txBody>
      </p:sp>
      <p:sp>
        <p:nvSpPr>
          <p:cNvPr id="5" name="card"/>
          <p:cNvSpPr/>
          <p:nvPr/>
        </p:nvSpPr>
        <p:spPr>
          <a:xfrm>
            <a:off x="1554480" y="1783080"/>
            <a:ext cx="3657600" cy="2057400"/>
          </a:xfrm>
          <a:prstGeom prst="rect">
            <a:avLst/>
          </a:prstGeom>
          <a:solidFill>
            <a:srgbClr val="FFFFFF"/>
          </a:solidFill>
          <a:ln w="9525">
            <a:solidFill>
              <a:srgbClr val="E5E0D8"/>
            </a:solidFill>
            <a:prstDash val="solid"/>
          </a:ln>
        </p:spPr>
      </p:sp>
      <p:sp>
        <p:nvSpPr>
          <p:cNvPr id="6" name="number"/>
          <p:cNvSpPr/>
          <p:nvPr/>
        </p:nvSpPr>
        <p:spPr>
          <a:xfrm>
            <a:off x="1737360" y="1892808"/>
            <a:ext cx="384048" cy="384048"/>
          </a:xfrm>
          <a:prstGeom prst="ellipse">
            <a:avLst/>
          </a:prstGeom>
          <a:solidFill>
            <a:srgbClr val="D4A373"/>
          </a:solidFill>
          <a:ln w="12700">
            <a:solidFill>
              <a:srgbClr val="D4A373"/>
            </a:solidFill>
            <a:prstDash val="solid"/>
          </a:ln>
        </p:spPr>
      </p:sp>
      <p:sp>
        <p:nvSpPr>
          <p:cNvPr id="7" name="Text 5"/>
          <p:cNvSpPr txBox="1"/>
          <p:nvPr/>
        </p:nvSpPr>
        <p:spPr>
          <a:xfrm>
            <a:off x="1737360" y="1892808"/>
            <a:ext cx="384048" cy="384048"/>
          </a:xfrm>
          <a:prstGeom prst="rect">
            <a:avLst/>
          </a:prstGeom>
          <a:noFill/>
          <a:ln/>
        </p:spPr>
        <p:txBody>
          <a:bodyPr wrap="square" lIns="0" tIns="0" rIns="0" bIns="0" rtlCol="0" anchor="ctr"/>
          <a:lstStyle/>
          <a:p>
            <a:pPr algn="ctr" indent="0" marL="0">
              <a:buNone/>
            </a:pPr>
            <a:r>
              <a:rPr lang="en-US" sz="1500" b="1" dirty="0">
                <a:solidFill>
                  <a:srgbClr val="0F2A1D"/>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737360" y="2377440"/>
            <a:ext cx="3291840" cy="384048"/>
          </a:xfrm>
          <a:prstGeom prst="rect">
            <a:avLst/>
          </a:prstGeom>
          <a:noFill/>
          <a:ln/>
        </p:spPr>
        <p:txBody>
          <a:bodyPr wrap="square" lIns="0" tIns="0" rIns="0" bIns="0" rtlCol="0" anchor="ctr"/>
          <a:lstStyle/>
          <a:p>
            <a:pPr indent="0" marL="0">
              <a:buNone/>
            </a:pPr>
            <a:r>
              <a:rPr lang="en-US" sz="1900" b="1" dirty="0">
                <a:solidFill>
                  <a:srgbClr val="0F2A1D"/>
                </a:solidFill>
                <a:latin typeface="Calibri" pitchFamily="34" charset="0"/>
                <a:ea typeface="Calibri" pitchFamily="34" charset="-122"/>
                <a:cs typeface="Calibri" pitchFamily="34" charset="-120"/>
              </a:rPr>
              <a:t>State-level aggregates</a:t>
            </a:r>
            <a:endParaRPr lang="en-US" sz="1900" dirty="0"/>
          </a:p>
        </p:txBody>
      </p:sp>
      <p:sp>
        <p:nvSpPr>
          <p:cNvPr id="9" name="Text 7"/>
          <p:cNvSpPr txBox="1"/>
          <p:nvPr/>
        </p:nvSpPr>
        <p:spPr>
          <a:xfrm>
            <a:off x="1737360" y="2761488"/>
            <a:ext cx="3291840" cy="914400"/>
          </a:xfrm>
          <a:prstGeom prst="rect">
            <a:avLst/>
          </a:prstGeom>
          <a:noFill/>
          <a:ln/>
        </p:spPr>
        <p:txBody>
          <a:bodyPr wrap="square" lIns="0" tIns="0" rIns="0" bIns="0" rtlCol="0" anchor="t"/>
          <a:lstStyle/>
          <a:p>
            <a:pPr indent="0" marL="0">
              <a:buNone/>
            </a:pPr>
            <a:r>
              <a:rPr lang="en-US" sz="1500" dirty="0">
                <a:solidFill>
                  <a:srgbClr val="2B2B2B"/>
                </a:solidFill>
                <a:latin typeface="Calibri" pitchFamily="34" charset="0"/>
                <a:ea typeface="Calibri" pitchFamily="34" charset="-122"/>
                <a:cs typeface="Calibri" pitchFamily="34" charset="-120"/>
              </a:rPr>
              <a:t>Findings show associations between states, not on individual students or schools.</a:t>
            </a:r>
            <a:endParaRPr lang="en-US" sz="1500" dirty="0"/>
          </a:p>
        </p:txBody>
      </p:sp>
      <p:sp>
        <p:nvSpPr>
          <p:cNvPr id="10" name="card"/>
          <p:cNvSpPr/>
          <p:nvPr/>
        </p:nvSpPr>
        <p:spPr>
          <a:xfrm>
            <a:off x="6793992" y="1783080"/>
            <a:ext cx="3657600" cy="2057400"/>
          </a:xfrm>
          <a:prstGeom prst="rect">
            <a:avLst/>
          </a:prstGeom>
          <a:solidFill>
            <a:srgbClr val="FFFFFF"/>
          </a:solidFill>
          <a:ln w="9525">
            <a:solidFill>
              <a:srgbClr val="E5E0D8"/>
            </a:solidFill>
            <a:prstDash val="solid"/>
          </a:ln>
        </p:spPr>
      </p:sp>
      <p:sp>
        <p:nvSpPr>
          <p:cNvPr id="11" name="number"/>
          <p:cNvSpPr/>
          <p:nvPr/>
        </p:nvSpPr>
        <p:spPr>
          <a:xfrm>
            <a:off x="6976872" y="1892808"/>
            <a:ext cx="384048" cy="384048"/>
          </a:xfrm>
          <a:prstGeom prst="ellipse">
            <a:avLst/>
          </a:prstGeom>
          <a:solidFill>
            <a:srgbClr val="D4A373"/>
          </a:solidFill>
          <a:ln w="12700">
            <a:solidFill>
              <a:srgbClr val="D4A373"/>
            </a:solidFill>
            <a:prstDash val="solid"/>
          </a:ln>
        </p:spPr>
      </p:sp>
      <p:sp>
        <p:nvSpPr>
          <p:cNvPr id="12" name="Text 10"/>
          <p:cNvSpPr txBox="1"/>
          <p:nvPr/>
        </p:nvSpPr>
        <p:spPr>
          <a:xfrm>
            <a:off x="6976872" y="1892808"/>
            <a:ext cx="384048" cy="384048"/>
          </a:xfrm>
          <a:prstGeom prst="rect">
            <a:avLst/>
          </a:prstGeom>
          <a:noFill/>
          <a:ln/>
        </p:spPr>
        <p:txBody>
          <a:bodyPr wrap="square" lIns="0" tIns="0" rIns="0" bIns="0" rtlCol="0" anchor="ctr"/>
          <a:lstStyle/>
          <a:p>
            <a:pPr algn="ctr" indent="0" marL="0">
              <a:buNone/>
            </a:pPr>
            <a:r>
              <a:rPr lang="en-US" sz="1500" b="1" dirty="0">
                <a:solidFill>
                  <a:srgbClr val="0F2A1D"/>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6976872" y="2377440"/>
            <a:ext cx="3291840" cy="384048"/>
          </a:xfrm>
          <a:prstGeom prst="rect">
            <a:avLst/>
          </a:prstGeom>
          <a:noFill/>
          <a:ln/>
        </p:spPr>
        <p:txBody>
          <a:bodyPr wrap="square" lIns="0" tIns="0" rIns="0" bIns="0" rtlCol="0" anchor="ctr"/>
          <a:lstStyle/>
          <a:p>
            <a:pPr indent="0" marL="0">
              <a:buNone/>
            </a:pPr>
            <a:r>
              <a:rPr lang="en-US" sz="1900" b="1" dirty="0">
                <a:solidFill>
                  <a:srgbClr val="0F2A1D"/>
                </a:solidFill>
                <a:latin typeface="Calibri" pitchFamily="34" charset="0"/>
                <a:ea typeface="Calibri" pitchFamily="34" charset="-122"/>
                <a:cs typeface="Calibri" pitchFamily="34" charset="-120"/>
              </a:rPr>
              <a:t>Reused data</a:t>
            </a:r>
            <a:endParaRPr lang="en-US" sz="1900" dirty="0"/>
          </a:p>
        </p:txBody>
      </p:sp>
      <p:sp>
        <p:nvSpPr>
          <p:cNvPr id="14" name="Text 12"/>
          <p:cNvSpPr txBox="1"/>
          <p:nvPr/>
        </p:nvSpPr>
        <p:spPr>
          <a:xfrm>
            <a:off x="6976872" y="2761488"/>
            <a:ext cx="3291840" cy="914400"/>
          </a:xfrm>
          <a:prstGeom prst="rect">
            <a:avLst/>
          </a:prstGeom>
          <a:noFill/>
          <a:ln/>
        </p:spPr>
        <p:txBody>
          <a:bodyPr wrap="square" lIns="0" tIns="0" rIns="0" bIns="0" rtlCol="0" anchor="t"/>
          <a:lstStyle/>
          <a:p>
            <a:pPr indent="0" marL="0">
              <a:buNone/>
            </a:pPr>
            <a:r>
              <a:rPr lang="en-US" sz="1500" dirty="0">
                <a:solidFill>
                  <a:srgbClr val="2B2B2B"/>
                </a:solidFill>
                <a:latin typeface="Calibri" pitchFamily="34" charset="0"/>
                <a:ea typeface="Calibri" pitchFamily="34" charset="-122"/>
                <a:cs typeface="Calibri" pitchFamily="34" charset="-120"/>
              </a:rPr>
              <a:t>Some data are reused from earlier years which hides real year-to-year change.</a:t>
            </a:r>
            <a:endParaRPr lang="en-US" sz="1500" dirty="0"/>
          </a:p>
        </p:txBody>
      </p:sp>
      <p:sp>
        <p:nvSpPr>
          <p:cNvPr id="15" name="card"/>
          <p:cNvSpPr/>
          <p:nvPr/>
        </p:nvSpPr>
        <p:spPr>
          <a:xfrm>
            <a:off x="1554480" y="4169664"/>
            <a:ext cx="3657600" cy="2057400"/>
          </a:xfrm>
          <a:prstGeom prst="rect">
            <a:avLst/>
          </a:prstGeom>
          <a:solidFill>
            <a:srgbClr val="FFFFFF"/>
          </a:solidFill>
          <a:ln w="9525">
            <a:solidFill>
              <a:srgbClr val="E5E0D8"/>
            </a:solidFill>
            <a:prstDash val="solid"/>
          </a:ln>
        </p:spPr>
      </p:sp>
      <p:sp>
        <p:nvSpPr>
          <p:cNvPr id="16" name="number"/>
          <p:cNvSpPr/>
          <p:nvPr/>
        </p:nvSpPr>
        <p:spPr>
          <a:xfrm>
            <a:off x="1737360" y="4279392"/>
            <a:ext cx="384048" cy="384048"/>
          </a:xfrm>
          <a:prstGeom prst="ellipse">
            <a:avLst/>
          </a:prstGeom>
          <a:solidFill>
            <a:srgbClr val="D4A373"/>
          </a:solidFill>
          <a:ln w="12700">
            <a:solidFill>
              <a:srgbClr val="D4A373"/>
            </a:solidFill>
            <a:prstDash val="solid"/>
          </a:ln>
        </p:spPr>
      </p:sp>
      <p:sp>
        <p:nvSpPr>
          <p:cNvPr id="17" name="Text 15"/>
          <p:cNvSpPr txBox="1"/>
          <p:nvPr/>
        </p:nvSpPr>
        <p:spPr>
          <a:xfrm>
            <a:off x="1737360" y="4279392"/>
            <a:ext cx="384048" cy="384048"/>
          </a:xfrm>
          <a:prstGeom prst="rect">
            <a:avLst/>
          </a:prstGeom>
          <a:noFill/>
          <a:ln/>
        </p:spPr>
        <p:txBody>
          <a:bodyPr wrap="square" lIns="0" tIns="0" rIns="0" bIns="0" rtlCol="0" anchor="ctr"/>
          <a:lstStyle/>
          <a:p>
            <a:pPr algn="ctr" indent="0" marL="0">
              <a:buNone/>
            </a:pPr>
            <a:r>
              <a:rPr lang="en-US" sz="1500" b="1" dirty="0">
                <a:solidFill>
                  <a:srgbClr val="0F2A1D"/>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737360" y="4764024"/>
            <a:ext cx="3291840" cy="384048"/>
          </a:xfrm>
          <a:prstGeom prst="rect">
            <a:avLst/>
          </a:prstGeom>
          <a:noFill/>
          <a:ln/>
        </p:spPr>
        <p:txBody>
          <a:bodyPr wrap="square" lIns="0" tIns="0" rIns="0" bIns="0" rtlCol="0" anchor="ctr"/>
          <a:lstStyle/>
          <a:p>
            <a:pPr indent="0" marL="0">
              <a:buNone/>
            </a:pPr>
            <a:r>
              <a:rPr lang="en-US" sz="1900" b="1" dirty="0">
                <a:solidFill>
                  <a:srgbClr val="0F2A1D"/>
                </a:solidFill>
                <a:latin typeface="Calibri" pitchFamily="34" charset="0"/>
                <a:ea typeface="Calibri" pitchFamily="34" charset="-122"/>
                <a:cs typeface="Calibri" pitchFamily="34" charset="-120"/>
              </a:rPr>
              <a:t>Coverage gaps</a:t>
            </a:r>
            <a:endParaRPr lang="en-US" sz="1900" dirty="0"/>
          </a:p>
        </p:txBody>
      </p:sp>
      <p:sp>
        <p:nvSpPr>
          <p:cNvPr id="19" name="Text 17"/>
          <p:cNvSpPr txBox="1"/>
          <p:nvPr/>
        </p:nvSpPr>
        <p:spPr>
          <a:xfrm>
            <a:off x="1737360" y="5148072"/>
            <a:ext cx="3291840" cy="914400"/>
          </a:xfrm>
          <a:prstGeom prst="rect">
            <a:avLst/>
          </a:prstGeom>
          <a:noFill/>
          <a:ln/>
        </p:spPr>
        <p:txBody>
          <a:bodyPr wrap="square" lIns="0" tIns="0" rIns="0" bIns="0" rtlCol="0" anchor="t"/>
          <a:lstStyle/>
          <a:p>
            <a:pPr indent="0" marL="0">
              <a:buNone/>
            </a:pPr>
            <a:r>
              <a:rPr lang="en-US" sz="1500" dirty="0">
                <a:solidFill>
                  <a:srgbClr val="2B2B2B"/>
                </a:solidFill>
                <a:latin typeface="Calibri" pitchFamily="34" charset="0"/>
                <a:ea typeface="Calibri" pitchFamily="34" charset="-122"/>
                <a:cs typeface="Calibri" pitchFamily="34" charset="-120"/>
              </a:rPr>
              <a:t>No classroom or toilet data was captured 2016–2018, and no private-teacher data for 2017.</a:t>
            </a:r>
            <a:endParaRPr lang="en-US" sz="1500" dirty="0"/>
          </a:p>
        </p:txBody>
      </p:sp>
      <p:sp>
        <p:nvSpPr>
          <p:cNvPr id="20" name="card"/>
          <p:cNvSpPr/>
          <p:nvPr/>
        </p:nvSpPr>
        <p:spPr>
          <a:xfrm>
            <a:off x="6793992" y="4169664"/>
            <a:ext cx="3657600" cy="2057400"/>
          </a:xfrm>
          <a:prstGeom prst="rect">
            <a:avLst/>
          </a:prstGeom>
          <a:solidFill>
            <a:srgbClr val="FFFFFF"/>
          </a:solidFill>
          <a:ln w="9525">
            <a:solidFill>
              <a:srgbClr val="E5E0D8"/>
            </a:solidFill>
            <a:prstDash val="solid"/>
          </a:ln>
        </p:spPr>
      </p:sp>
      <p:sp>
        <p:nvSpPr>
          <p:cNvPr id="21" name="number"/>
          <p:cNvSpPr/>
          <p:nvPr/>
        </p:nvSpPr>
        <p:spPr>
          <a:xfrm>
            <a:off x="6976872" y="4279392"/>
            <a:ext cx="384048" cy="384048"/>
          </a:xfrm>
          <a:prstGeom prst="ellipse">
            <a:avLst/>
          </a:prstGeom>
          <a:solidFill>
            <a:srgbClr val="D4A373"/>
          </a:solidFill>
          <a:ln w="12700">
            <a:solidFill>
              <a:srgbClr val="D4A373"/>
            </a:solidFill>
            <a:prstDash val="solid"/>
          </a:ln>
        </p:spPr>
      </p:sp>
      <p:sp>
        <p:nvSpPr>
          <p:cNvPr id="22" name="Text 20"/>
          <p:cNvSpPr txBox="1"/>
          <p:nvPr/>
        </p:nvSpPr>
        <p:spPr>
          <a:xfrm>
            <a:off x="6976872" y="4279392"/>
            <a:ext cx="384048" cy="384048"/>
          </a:xfrm>
          <a:prstGeom prst="rect">
            <a:avLst/>
          </a:prstGeom>
          <a:noFill/>
          <a:ln/>
        </p:spPr>
        <p:txBody>
          <a:bodyPr wrap="square" lIns="0" tIns="0" rIns="0" bIns="0" rtlCol="0" anchor="ctr"/>
          <a:lstStyle/>
          <a:p>
            <a:pPr algn="ctr" indent="0" marL="0">
              <a:buNone/>
            </a:pPr>
            <a:r>
              <a:rPr lang="en-US" sz="1500" b="1" dirty="0">
                <a:solidFill>
                  <a:srgbClr val="0F2A1D"/>
                </a:solidFill>
                <a:latin typeface="Cambria" pitchFamily="34" charset="0"/>
                <a:ea typeface="Cambria" pitchFamily="34" charset="-122"/>
                <a:cs typeface="Cambria" pitchFamily="34" charset="-120"/>
              </a:rPr>
              <a:t>4</a:t>
            </a:r>
            <a:endParaRPr lang="en-US" sz="1500" dirty="0"/>
          </a:p>
        </p:txBody>
      </p:sp>
      <p:sp>
        <p:nvSpPr>
          <p:cNvPr id="23" name="Text 21"/>
          <p:cNvSpPr txBox="1"/>
          <p:nvPr/>
        </p:nvSpPr>
        <p:spPr>
          <a:xfrm>
            <a:off x="6976872" y="4764024"/>
            <a:ext cx="3291840" cy="384048"/>
          </a:xfrm>
          <a:prstGeom prst="rect">
            <a:avLst/>
          </a:prstGeom>
          <a:noFill/>
          <a:ln/>
        </p:spPr>
        <p:txBody>
          <a:bodyPr wrap="square" lIns="0" tIns="0" rIns="0" bIns="0" rtlCol="0" anchor="ctr"/>
          <a:lstStyle/>
          <a:p>
            <a:pPr indent="0" marL="0">
              <a:buNone/>
            </a:pPr>
            <a:r>
              <a:rPr lang="en-US" sz="1900" b="1" dirty="0">
                <a:solidFill>
                  <a:srgbClr val="0F2A1D"/>
                </a:solidFill>
                <a:latin typeface="Calibri" pitchFamily="34" charset="0"/>
                <a:ea typeface="Calibri" pitchFamily="34" charset="-122"/>
                <a:cs typeface="Calibri" pitchFamily="34" charset="-120"/>
              </a:rPr>
              <a:t>Lack of data</a:t>
            </a:r>
            <a:endParaRPr lang="en-US" sz="1900" dirty="0"/>
          </a:p>
        </p:txBody>
      </p:sp>
      <p:sp>
        <p:nvSpPr>
          <p:cNvPr id="24" name="Text 22"/>
          <p:cNvSpPr txBox="1"/>
          <p:nvPr/>
        </p:nvSpPr>
        <p:spPr>
          <a:xfrm>
            <a:off x="6976872" y="5148072"/>
            <a:ext cx="3291840" cy="914400"/>
          </a:xfrm>
          <a:prstGeom prst="rect">
            <a:avLst/>
          </a:prstGeom>
          <a:noFill/>
          <a:ln/>
        </p:spPr>
        <p:txBody>
          <a:bodyPr wrap="square" lIns="0" tIns="0" rIns="0" bIns="0" rtlCol="0" anchor="t"/>
          <a:lstStyle/>
          <a:p>
            <a:pPr indent="0" marL="0">
              <a:buNone/>
            </a:pPr>
            <a:r>
              <a:rPr lang="en-US" sz="1500" dirty="0">
                <a:solidFill>
                  <a:srgbClr val="2B2B2B"/>
                </a:solidFill>
                <a:latin typeface="Calibri" pitchFamily="34" charset="0"/>
                <a:ea typeface="Calibri" pitchFamily="34" charset="-122"/>
                <a:cs typeface="Calibri" pitchFamily="34" charset="-120"/>
              </a:rPr>
              <a:t>Other relevant data such as school funding were not available.</a:t>
            </a:r>
            <a:endParaRPr lang="en-US" sz="1500" dirty="0"/>
          </a:p>
        </p:txBody>
      </p:sp>
      <p:sp>
        <p:nvSpPr>
          <p:cNvPr id="25" name="Slide Number Placeholder 0"/>
          <p:cNvSpPr>
            <a:spLocks noGrp="1"/>
          </p:cNvSpPr>
          <p:nvPr>
            <p:ph type="sldNum" sz="quarter" idx="4294967295"/>
          </p:nvPr>
        </p:nvSpPr>
        <p:spPr>
          <a:xfrm>
            <a:off x="11277295" y="6510528"/>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pill"/>
          <p:cNvSpPr/>
          <p:nvPr/>
        </p:nvSpPr>
        <p:spPr>
          <a:xfrm>
            <a:off x="457200" y="411480"/>
            <a:ext cx="2194560" cy="347472"/>
          </a:xfrm>
          <a:prstGeom prst="roundRect">
            <a:avLst>
              <a:gd name="adj" fmla="val 50000"/>
            </a:avLst>
          </a:prstGeom>
          <a:solidFill>
            <a:srgbClr val="D4A373"/>
          </a:solidFill>
          <a:ln w="12700">
            <a:solidFill>
              <a:srgbClr val="D4A373"/>
            </a:solidFill>
            <a:prstDash val="solid"/>
          </a:ln>
        </p:spPr>
      </p:sp>
      <p:sp>
        <p:nvSpPr>
          <p:cNvPr id="3" name="Text 1"/>
          <p:cNvSpPr txBox="1"/>
          <p:nvPr/>
        </p:nvSpPr>
        <p:spPr>
          <a:xfrm>
            <a:off x="457200" y="411480"/>
            <a:ext cx="2194560" cy="347472"/>
          </a:xfrm>
          <a:prstGeom prst="rect">
            <a:avLst/>
          </a:prstGeom>
          <a:noFill/>
          <a:ln/>
        </p:spPr>
        <p:txBody>
          <a:bodyPr wrap="square" lIns="0" tIns="0" rIns="0" bIns="0" rtlCol="0" anchor="ctr"/>
          <a:lstStyle/>
          <a:p>
            <a:pPr algn="ctr" indent="0" marL="0">
              <a:buNone/>
            </a:pPr>
            <a:r>
              <a:rPr lang="en-US" sz="1100" b="1" spc="150" kern="0" dirty="0">
                <a:solidFill>
                  <a:srgbClr val="0F2A1D"/>
                </a:solidFill>
                <a:latin typeface="Calibri" pitchFamily="34" charset="0"/>
                <a:ea typeface="Calibri" pitchFamily="34" charset="-122"/>
                <a:cs typeface="Calibri" pitchFamily="34" charset="-120"/>
              </a:rPr>
              <a:t>DATA</a:t>
            </a:r>
            <a:endParaRPr lang="en-US" sz="1100" dirty="0"/>
          </a:p>
        </p:txBody>
      </p:sp>
      <p:sp>
        <p:nvSpPr>
          <p:cNvPr id="4" name="Text 0"/>
          <p:cNvSpPr/>
          <p:nvPr>
            <p:ph idx="100" type="title" hasCustomPrompt="1"/>
          </p:nvPr>
        </p:nvSpPr>
        <p:spPr>
          <a:xfrm>
            <a:off x="457200" y="914400"/>
            <a:ext cx="11277295" cy="731520"/>
          </a:xfrm>
          <a:prstGeom prst="rect">
            <a:avLst/>
          </a:prstGeom>
          <a:noFill/>
          <a:ln/>
        </p:spPr>
        <p:txBody>
          <a:bodyPr wrap="square" lIns="0" tIns="0" rIns="0" bIns="0" rtlCol="0" anchor="ctr"/>
          <a:lstStyle/>
          <a:p>
            <a:pPr algn="l" indent="0" marL="0">
              <a:buNone/>
            </a:pPr>
            <a:r>
              <a:rPr lang="en-US" sz="3400" b="1" dirty="0">
                <a:solidFill>
                  <a:srgbClr val="0F2A1D"/>
                </a:solidFill>
                <a:latin typeface="Cambria" pitchFamily="34" charset="0"/>
                <a:ea typeface="Cambria" pitchFamily="34" charset="-122"/>
                <a:cs typeface="Cambria" pitchFamily="34" charset="-120"/>
              </a:rPr>
              <a:t>Where Our Data Comes From</a:t>
            </a:r>
            <a:endParaRPr lang="en-US" sz="3400" dirty="0"/>
          </a:p>
        </p:txBody>
      </p:sp>
      <p:sp>
        <p:nvSpPr>
          <p:cNvPr id="5" name="card"/>
          <p:cNvSpPr/>
          <p:nvPr/>
        </p:nvSpPr>
        <p:spPr>
          <a:xfrm>
            <a:off x="457200" y="1828800"/>
            <a:ext cx="5394960" cy="2651760"/>
          </a:xfrm>
          <a:prstGeom prst="rect">
            <a:avLst/>
          </a:prstGeom>
          <a:solidFill>
            <a:srgbClr val="FFFFFF"/>
          </a:solidFill>
          <a:ln w="9525">
            <a:solidFill>
              <a:srgbClr val="E5E0D8"/>
            </a:solidFill>
            <a:prstDash val="solid"/>
          </a:ln>
        </p:spPr>
      </p:sp>
      <p:sp>
        <p:nvSpPr>
          <p:cNvPr id="6" name="card header"/>
          <p:cNvSpPr/>
          <p:nvPr/>
        </p:nvSpPr>
        <p:spPr>
          <a:xfrm>
            <a:off x="457200" y="1828800"/>
            <a:ext cx="5394960" cy="109728"/>
          </a:xfrm>
          <a:prstGeom prst="rect">
            <a:avLst/>
          </a:prstGeom>
          <a:solidFill>
            <a:srgbClr val="1B4332"/>
          </a:solidFill>
          <a:ln w="12700">
            <a:solidFill>
              <a:srgbClr val="1B4332"/>
            </a:solidFill>
            <a:prstDash val="solid"/>
          </a:ln>
        </p:spPr>
      </p:sp>
      <p:sp>
        <p:nvSpPr>
          <p:cNvPr id="7" name="Text 5"/>
          <p:cNvSpPr txBox="1"/>
          <p:nvPr/>
        </p:nvSpPr>
        <p:spPr>
          <a:xfrm>
            <a:off x="731520" y="2103120"/>
            <a:ext cx="4846320" cy="411480"/>
          </a:xfrm>
          <a:prstGeom prst="rect">
            <a:avLst/>
          </a:prstGeom>
          <a:noFill/>
          <a:ln/>
        </p:spPr>
        <p:txBody>
          <a:bodyPr wrap="square" lIns="0" tIns="0" rIns="0" bIns="0" rtlCol="0" anchor="ctr"/>
          <a:lstStyle/>
          <a:p>
            <a:pPr indent="0" marL="0">
              <a:buNone/>
            </a:pPr>
            <a:r>
              <a:rPr lang="en-US" sz="2400" b="1" dirty="0">
                <a:solidFill>
                  <a:srgbClr val="0F2A1D"/>
                </a:solidFill>
                <a:latin typeface="Cambria" pitchFamily="34" charset="0"/>
                <a:ea typeface="Cambria" pitchFamily="34" charset="-122"/>
                <a:cs typeface="Cambria" pitchFamily="34" charset="-120"/>
              </a:rPr>
              <a:t>NEMIS</a:t>
            </a:r>
            <a:endParaRPr lang="en-US" sz="2400" dirty="0"/>
          </a:p>
        </p:txBody>
      </p:sp>
      <p:sp>
        <p:nvSpPr>
          <p:cNvPr id="8" name="Text 6"/>
          <p:cNvSpPr txBox="1"/>
          <p:nvPr/>
        </p:nvSpPr>
        <p:spPr>
          <a:xfrm>
            <a:off x="731520" y="2560320"/>
            <a:ext cx="4846320" cy="292608"/>
          </a:xfrm>
          <a:prstGeom prst="rect">
            <a:avLst/>
          </a:prstGeom>
          <a:noFill/>
          <a:ln/>
        </p:spPr>
        <p:txBody>
          <a:bodyPr wrap="square" lIns="0" tIns="0" rIns="0" bIns="0" rtlCol="0" anchor="ctr"/>
          <a:lstStyle/>
          <a:p>
            <a:pPr indent="0" marL="0">
              <a:buNone/>
            </a:pPr>
            <a:r>
              <a:rPr lang="en-US" sz="1500" i="1" dirty="0">
                <a:solidFill>
                  <a:srgbClr val="1B4332"/>
                </a:solidFill>
                <a:latin typeface="Calibri" pitchFamily="34" charset="0"/>
                <a:ea typeface="Calibri" pitchFamily="34" charset="-122"/>
                <a:cs typeface="Calibri" pitchFamily="34" charset="-120"/>
              </a:rPr>
              <a:t>National Education Management Information System</a:t>
            </a:r>
            <a:endParaRPr lang="en-US" sz="1500" dirty="0"/>
          </a:p>
        </p:txBody>
      </p:sp>
      <p:sp>
        <p:nvSpPr>
          <p:cNvPr id="9" name="Text 7"/>
          <p:cNvSpPr txBox="1"/>
          <p:nvPr/>
        </p:nvSpPr>
        <p:spPr>
          <a:xfrm>
            <a:off x="731520" y="2926080"/>
            <a:ext cx="4846320" cy="1417320"/>
          </a:xfrm>
          <a:prstGeom prst="rect">
            <a:avLst/>
          </a:prstGeom>
          <a:noFill/>
          <a:ln/>
        </p:spPr>
        <p:txBody>
          <a:bodyPr wrap="square" lIns="0" tIns="0" rIns="0" bIns="0" rtlCol="0" anchor="t"/>
          <a:lstStyle/>
          <a:p>
            <a:pPr indent="0" marL="0">
              <a:buNone/>
            </a:pPr>
            <a:r>
              <a:rPr lang="en-US" sz="1500" dirty="0">
                <a:solidFill>
                  <a:srgbClr val="2B2B2B"/>
                </a:solidFill>
                <a:latin typeface="Calibri" pitchFamily="34" charset="0"/>
                <a:ea typeface="Calibri" pitchFamily="34" charset="-122"/>
                <a:cs typeface="Calibri" pitchFamily="34" charset="-120"/>
              </a:rPr>
              <a:t>Source for educational resource data: student number, teacher number, teacher qualification, classroom condition, and toilet provision, reported separately for public and private schools in every state.</a:t>
            </a:r>
            <a:endParaRPr lang="en-US" sz="1500" dirty="0"/>
          </a:p>
        </p:txBody>
      </p:sp>
      <p:sp>
        <p:nvSpPr>
          <p:cNvPr id="10" name="card"/>
          <p:cNvSpPr/>
          <p:nvPr/>
        </p:nvSpPr>
        <p:spPr>
          <a:xfrm>
            <a:off x="6309360" y="1828800"/>
            <a:ext cx="5394960" cy="2651760"/>
          </a:xfrm>
          <a:prstGeom prst="rect">
            <a:avLst/>
          </a:prstGeom>
          <a:solidFill>
            <a:srgbClr val="FFFFFF"/>
          </a:solidFill>
          <a:ln w="9525">
            <a:solidFill>
              <a:srgbClr val="E5E0D8"/>
            </a:solidFill>
            <a:prstDash val="solid"/>
          </a:ln>
        </p:spPr>
      </p:sp>
      <p:sp>
        <p:nvSpPr>
          <p:cNvPr id="11" name="card header"/>
          <p:cNvSpPr/>
          <p:nvPr/>
        </p:nvSpPr>
        <p:spPr>
          <a:xfrm>
            <a:off x="6309360" y="1828800"/>
            <a:ext cx="5394960" cy="109728"/>
          </a:xfrm>
          <a:prstGeom prst="rect">
            <a:avLst/>
          </a:prstGeom>
          <a:solidFill>
            <a:srgbClr val="1B4332"/>
          </a:solidFill>
          <a:ln w="12700">
            <a:solidFill>
              <a:srgbClr val="1B4332"/>
            </a:solidFill>
            <a:prstDash val="solid"/>
          </a:ln>
        </p:spPr>
      </p:sp>
      <p:sp>
        <p:nvSpPr>
          <p:cNvPr id="12" name="Text 10"/>
          <p:cNvSpPr txBox="1"/>
          <p:nvPr/>
        </p:nvSpPr>
        <p:spPr>
          <a:xfrm>
            <a:off x="6583680" y="2103120"/>
            <a:ext cx="4846320" cy="411480"/>
          </a:xfrm>
          <a:prstGeom prst="rect">
            <a:avLst/>
          </a:prstGeom>
          <a:noFill/>
          <a:ln/>
        </p:spPr>
        <p:txBody>
          <a:bodyPr wrap="square" lIns="0" tIns="0" rIns="0" bIns="0" rtlCol="0" anchor="ctr"/>
          <a:lstStyle/>
          <a:p>
            <a:pPr indent="0" marL="0">
              <a:buNone/>
            </a:pPr>
            <a:r>
              <a:rPr lang="en-US" sz="2400" b="1" dirty="0">
                <a:solidFill>
                  <a:srgbClr val="0F2A1D"/>
                </a:solidFill>
                <a:latin typeface="Cambria" pitchFamily="34" charset="0"/>
                <a:ea typeface="Cambria" pitchFamily="34" charset="-122"/>
                <a:cs typeface="Cambria" pitchFamily="34" charset="-120"/>
              </a:rPr>
              <a:t>NBS</a:t>
            </a:r>
            <a:endParaRPr lang="en-US" sz="2400" dirty="0"/>
          </a:p>
        </p:txBody>
      </p:sp>
      <p:sp>
        <p:nvSpPr>
          <p:cNvPr id="13" name="Text 11"/>
          <p:cNvSpPr txBox="1"/>
          <p:nvPr/>
        </p:nvSpPr>
        <p:spPr>
          <a:xfrm>
            <a:off x="6583680" y="2560320"/>
            <a:ext cx="4846320" cy="292608"/>
          </a:xfrm>
          <a:prstGeom prst="rect">
            <a:avLst/>
          </a:prstGeom>
          <a:noFill/>
          <a:ln/>
        </p:spPr>
        <p:txBody>
          <a:bodyPr wrap="square" lIns="0" tIns="0" rIns="0" bIns="0" rtlCol="0" anchor="ctr"/>
          <a:lstStyle/>
          <a:p>
            <a:pPr indent="0" marL="0">
              <a:buNone/>
            </a:pPr>
            <a:r>
              <a:rPr lang="en-US" sz="1500" i="1" dirty="0">
                <a:solidFill>
                  <a:srgbClr val="1B4332"/>
                </a:solidFill>
                <a:latin typeface="Calibri" pitchFamily="34" charset="0"/>
                <a:ea typeface="Calibri" pitchFamily="34" charset="-122"/>
                <a:cs typeface="Calibri" pitchFamily="34" charset="-120"/>
              </a:rPr>
              <a:t>National Bureau of Statistics</a:t>
            </a:r>
            <a:endParaRPr lang="en-US" sz="1500" dirty="0"/>
          </a:p>
        </p:txBody>
      </p:sp>
      <p:sp>
        <p:nvSpPr>
          <p:cNvPr id="14" name="Text 12"/>
          <p:cNvSpPr txBox="1"/>
          <p:nvPr/>
        </p:nvSpPr>
        <p:spPr>
          <a:xfrm>
            <a:off x="6583680" y="2926080"/>
            <a:ext cx="4846320" cy="1417320"/>
          </a:xfrm>
          <a:prstGeom prst="rect">
            <a:avLst/>
          </a:prstGeom>
          <a:noFill/>
          <a:ln/>
        </p:spPr>
        <p:txBody>
          <a:bodyPr wrap="square" lIns="0" tIns="0" rIns="0" bIns="0" rtlCol="0" anchor="t"/>
          <a:lstStyle/>
          <a:p>
            <a:pPr indent="0" marL="0">
              <a:buNone/>
            </a:pPr>
            <a:r>
              <a:rPr lang="en-US" sz="1500" dirty="0">
                <a:solidFill>
                  <a:srgbClr val="2B2B2B"/>
                </a:solidFill>
                <a:latin typeface="Calibri" pitchFamily="34" charset="0"/>
                <a:ea typeface="Calibri" pitchFamily="34" charset="-122"/>
                <a:cs typeface="Calibri" pitchFamily="34" charset="-120"/>
              </a:rPr>
              <a:t>Source for student outcome data: WAEC candidate and credit counts, reported separately for public and private schools in every state.</a:t>
            </a:r>
            <a:endParaRPr lang="en-US" sz="1500" dirty="0"/>
          </a:p>
        </p:txBody>
      </p:sp>
      <p:sp>
        <p:nvSpPr>
          <p:cNvPr id="25" name="Slide Number Placeholder 0"/>
          <p:cNvSpPr>
            <a:spLocks noGrp="1"/>
          </p:cNvSpPr>
          <p:nvPr>
            <p:ph type="sldNum" sz="quarter" idx="4294967295"/>
          </p:nvPr>
        </p:nvSpPr>
        <p:spPr>
          <a:xfrm>
            <a:off x="11277295" y="6510528"/>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pill"/>
          <p:cNvSpPr/>
          <p:nvPr/>
        </p:nvSpPr>
        <p:spPr>
          <a:xfrm>
            <a:off x="457200" y="411480"/>
            <a:ext cx="2194560" cy="347472"/>
          </a:xfrm>
          <a:prstGeom prst="roundRect">
            <a:avLst>
              <a:gd name="adj" fmla="val 50000"/>
            </a:avLst>
          </a:prstGeom>
          <a:solidFill>
            <a:srgbClr val="D4A373"/>
          </a:solidFill>
          <a:ln w="12700">
            <a:solidFill>
              <a:srgbClr val="D4A373"/>
            </a:solidFill>
            <a:prstDash val="solid"/>
          </a:ln>
        </p:spPr>
      </p:sp>
      <p:sp>
        <p:nvSpPr>
          <p:cNvPr id="3" name="Text 1"/>
          <p:cNvSpPr txBox="1"/>
          <p:nvPr/>
        </p:nvSpPr>
        <p:spPr>
          <a:xfrm>
            <a:off x="457200" y="411480"/>
            <a:ext cx="2194560" cy="347472"/>
          </a:xfrm>
          <a:prstGeom prst="rect">
            <a:avLst/>
          </a:prstGeom>
          <a:noFill/>
          <a:ln/>
        </p:spPr>
        <p:txBody>
          <a:bodyPr wrap="square" lIns="0" tIns="0" rIns="0" bIns="0" rtlCol="0" anchor="ctr"/>
          <a:lstStyle/>
          <a:p>
            <a:pPr algn="ctr" indent="0" marL="0">
              <a:buNone/>
            </a:pPr>
            <a:r>
              <a:rPr lang="en-US" sz="1100" b="1" spc="150" kern="0" dirty="0">
                <a:solidFill>
                  <a:srgbClr val="0F2A1D"/>
                </a:solidFill>
                <a:latin typeface="Calibri" pitchFamily="34" charset="0"/>
                <a:ea typeface="Calibri" pitchFamily="34" charset="-122"/>
                <a:cs typeface="Calibri" pitchFamily="34" charset="-120"/>
              </a:rPr>
              <a:t>METHODOLOGY</a:t>
            </a:r>
            <a:endParaRPr lang="en-US" sz="1100" dirty="0"/>
          </a:p>
        </p:txBody>
      </p:sp>
      <p:sp>
        <p:nvSpPr>
          <p:cNvPr id="4" name="Text 0"/>
          <p:cNvSpPr/>
          <p:nvPr>
            <p:ph idx="100" type="title" hasCustomPrompt="1"/>
          </p:nvPr>
        </p:nvSpPr>
        <p:spPr>
          <a:xfrm>
            <a:off x="457200" y="914400"/>
            <a:ext cx="11277295" cy="731520"/>
          </a:xfrm>
          <a:prstGeom prst="rect">
            <a:avLst/>
          </a:prstGeom>
          <a:noFill/>
          <a:ln/>
        </p:spPr>
        <p:txBody>
          <a:bodyPr wrap="square" lIns="0" tIns="0" rIns="0" bIns="0" rtlCol="0" anchor="ctr"/>
          <a:lstStyle/>
          <a:p>
            <a:pPr algn="l" indent="0" marL="0">
              <a:buNone/>
            </a:pPr>
            <a:r>
              <a:rPr lang="en-US" sz="3400" b="1" dirty="0">
                <a:solidFill>
                  <a:srgbClr val="0F2A1D"/>
                </a:solidFill>
                <a:latin typeface="Cambria" pitchFamily="34" charset="0"/>
                <a:ea typeface="Cambria" pitchFamily="34" charset="-122"/>
                <a:cs typeface="Cambria" pitchFamily="34" charset="-120"/>
              </a:rPr>
              <a:t>Raw Files to Clean Panel Pipeline</a:t>
            </a:r>
            <a:endParaRPr lang="en-US" sz="3400" dirty="0"/>
          </a:p>
        </p:txBody>
      </p:sp>
      <p:sp>
        <p:nvSpPr>
          <p:cNvPr id="5" name="Text 3"/>
          <p:cNvSpPr txBox="1"/>
          <p:nvPr/>
        </p:nvSpPr>
        <p:spPr>
          <a:xfrm>
            <a:off x="457200" y="1828800"/>
            <a:ext cx="5486400" cy="365760"/>
          </a:xfrm>
          <a:prstGeom prst="rect">
            <a:avLst/>
          </a:prstGeom>
          <a:noFill/>
          <a:ln/>
        </p:spPr>
        <p:txBody>
          <a:bodyPr wrap="square" lIns="0" tIns="0" rIns="0" bIns="0" rtlCol="0" anchor="ctr"/>
          <a:lstStyle/>
          <a:p>
            <a:pPr indent="0" marL="0">
              <a:buNone/>
            </a:pPr>
            <a:r>
              <a:rPr lang="en-US" sz="1800" b="1" dirty="0">
                <a:solidFill>
                  <a:srgbClr val="1B4332"/>
                </a:solidFill>
                <a:latin typeface="Cambria" pitchFamily="34" charset="0"/>
                <a:ea typeface="Cambria" pitchFamily="34" charset="-122"/>
                <a:cs typeface="Cambria" pitchFamily="34" charset="-120"/>
              </a:rPr>
              <a:t>Data Gathering and Cleaning</a:t>
            </a:r>
            <a:endParaRPr lang="en-US" sz="1800" dirty="0"/>
          </a:p>
        </p:txBody>
      </p:sp>
      <p:sp>
        <p:nvSpPr>
          <p:cNvPr id="6" name="Text 4"/>
          <p:cNvSpPr txBox="1"/>
          <p:nvPr/>
        </p:nvSpPr>
        <p:spPr>
          <a:xfrm>
            <a:off x="457200" y="2286000"/>
            <a:ext cx="5440680" cy="402336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rgbClr val="2B2B2B"/>
                </a:solidFill>
                <a:latin typeface="Calibri" pitchFamily="34" charset="0"/>
                <a:ea typeface="Calibri" pitchFamily="34" charset="-122"/>
                <a:cs typeface="Calibri" pitchFamily="34" charset="-120"/>
              </a:rPr>
              <a:t>Resource data gathered as PDFs then converted to CSVs using Tabula.</a:t>
            </a:r>
            <a:endParaRPr lang="en-US" sz="1450" dirty="0"/>
          </a:p>
          <a:p>
            <a:pPr marL="342900" indent="-342900">
              <a:spcAft>
                <a:spcPts val="700"/>
              </a:spcAft>
              <a:buSzPct val="100000"/>
              <a:buChar char="•"/>
            </a:pPr>
            <a:r>
              <a:rPr lang="en-US" sz="1450" dirty="0">
                <a:solidFill>
                  <a:srgbClr val="2B2B2B"/>
                </a:solidFill>
                <a:latin typeface="Calibri" pitchFamily="34" charset="0"/>
                <a:ea typeface="Calibri" pitchFamily="34" charset="-122"/>
                <a:cs typeface="Calibri" pitchFamily="34" charset="-120"/>
              </a:rPr>
              <a:t>Outcome data gathered as Excel spreadsheets then converted to CSVs using CloudConvert.</a:t>
            </a:r>
            <a:endParaRPr lang="en-US" sz="1450" dirty="0"/>
          </a:p>
          <a:p>
            <a:pPr marL="342900" indent="-342900">
              <a:spcAft>
                <a:spcPts val="700"/>
              </a:spcAft>
              <a:buSzPct val="100000"/>
              <a:buChar char="•"/>
            </a:pPr>
            <a:r>
              <a:rPr lang="en-US" sz="1450" dirty="0">
                <a:solidFill>
                  <a:srgbClr val="2B2B2B"/>
                </a:solidFill>
                <a:latin typeface="Calibri" pitchFamily="34" charset="0"/>
                <a:ea typeface="Calibri" pitchFamily="34" charset="-122"/>
                <a:cs typeface="Calibri" pitchFamily="34" charset="-120"/>
              </a:rPr>
              <a:t>Resource data cleaned to handle conversion issues, such as columns filled with missing values.</a:t>
            </a:r>
            <a:endParaRPr lang="en-US" sz="1450" dirty="0"/>
          </a:p>
          <a:p>
            <a:pPr marL="342900" indent="-342900">
              <a:spcAft>
                <a:spcPts val="700"/>
              </a:spcAft>
              <a:buSzPct val="100000"/>
              <a:buChar char="•"/>
            </a:pPr>
            <a:r>
              <a:rPr lang="en-US" sz="1450" dirty="0">
                <a:solidFill>
                  <a:srgbClr val="2B2B2B"/>
                </a:solidFill>
                <a:latin typeface="Calibri" pitchFamily="34" charset="0"/>
                <a:ea typeface="Calibri" pitchFamily="34" charset="-122"/>
                <a:cs typeface="Calibri" pitchFamily="34" charset="-120"/>
              </a:rPr>
              <a:t>Columns changed to easy-to-read Pythonic names.</a:t>
            </a:r>
            <a:endParaRPr lang="en-US" sz="1450" dirty="0"/>
          </a:p>
          <a:p>
            <a:pPr marL="342900" indent="-342900">
              <a:spcAft>
                <a:spcPts val="700"/>
              </a:spcAft>
              <a:buSzPct val="100000"/>
              <a:buChar char="•"/>
            </a:pPr>
            <a:r>
              <a:rPr lang="en-US" sz="1450" dirty="0">
                <a:solidFill>
                  <a:srgbClr val="2B2B2B"/>
                </a:solidFill>
                <a:latin typeface="Calibri" pitchFamily="34" charset="0"/>
                <a:ea typeface="Calibri" pitchFamily="34" charset="-122"/>
                <a:cs typeface="Calibri" pitchFamily="34" charset="-120"/>
              </a:rPr>
              <a:t>State names standardized, such as removing footnote asterisks and state hyphens.</a:t>
            </a:r>
            <a:endParaRPr lang="en-US" sz="1450" dirty="0"/>
          </a:p>
          <a:p>
            <a:pPr marL="342900" indent="-342900">
              <a:spcAft>
                <a:spcPts val="700"/>
              </a:spcAft>
              <a:buSzPct val="100000"/>
              <a:buChar char="•"/>
            </a:pPr>
            <a:r>
              <a:rPr lang="en-US" sz="1450" dirty="0">
                <a:solidFill>
                  <a:srgbClr val="2B2B2B"/>
                </a:solidFill>
                <a:latin typeface="Calibri" pitchFamily="34" charset="0"/>
                <a:ea typeface="Calibri" pitchFamily="34" charset="-122"/>
                <a:cs typeface="Calibri" pitchFamily="34" charset="-120"/>
              </a:rPr>
              <a:t>Missing values filled with the column median and totals recalculated as the sum of their parts. (Missing row was added and filled using the same method while data was ignored.)</a:t>
            </a:r>
            <a:endParaRPr lang="en-US" sz="1450" dirty="0"/>
          </a:p>
        </p:txBody>
      </p:sp>
      <p:sp>
        <p:nvSpPr>
          <p:cNvPr id="7" name="Text 5"/>
          <p:cNvSpPr txBox="1"/>
          <p:nvPr/>
        </p:nvSpPr>
        <p:spPr>
          <a:xfrm>
            <a:off x="6327648" y="1828800"/>
            <a:ext cx="5394960" cy="365760"/>
          </a:xfrm>
          <a:prstGeom prst="rect">
            <a:avLst/>
          </a:prstGeom>
          <a:noFill/>
          <a:ln/>
        </p:spPr>
        <p:txBody>
          <a:bodyPr wrap="square" lIns="0" tIns="0" rIns="0" bIns="0" rtlCol="0" anchor="ctr"/>
          <a:lstStyle/>
          <a:p>
            <a:pPr indent="0" marL="0">
              <a:buNone/>
            </a:pPr>
            <a:r>
              <a:rPr lang="en-US" sz="1800" b="1" dirty="0">
                <a:solidFill>
                  <a:srgbClr val="1B4332"/>
                </a:solidFill>
                <a:latin typeface="Cambria" pitchFamily="34" charset="0"/>
                <a:ea typeface="Cambria" pitchFamily="34" charset="-122"/>
                <a:cs typeface="Cambria" pitchFamily="34" charset="-120"/>
              </a:rPr>
              <a:t>Panel Structure</a:t>
            </a:r>
            <a:endParaRPr lang="en-US" sz="1800" dirty="0"/>
          </a:p>
        </p:txBody>
      </p:sp>
      <p:sp>
        <p:nvSpPr>
          <p:cNvPr id="8" name="Text 6"/>
          <p:cNvSpPr txBox="1"/>
          <p:nvPr/>
        </p:nvSpPr>
        <p:spPr>
          <a:xfrm>
            <a:off x="6327648" y="2240280"/>
            <a:ext cx="5394960" cy="777240"/>
          </a:xfrm>
          <a:prstGeom prst="rect">
            <a:avLst/>
          </a:prstGeom>
          <a:noFill/>
          <a:ln/>
        </p:spPr>
        <p:txBody>
          <a:bodyPr wrap="square" lIns="0" tIns="0" rIns="0" bIns="0" rtlCol="0" anchor="t"/>
          <a:lstStyle/>
          <a:p>
            <a:pPr indent="0" marL="0">
              <a:buNone/>
            </a:pPr>
            <a:r>
              <a:rPr lang="en-US" sz="1450" dirty="0">
                <a:solidFill>
                  <a:srgbClr val="2B2B2B"/>
                </a:solidFill>
                <a:latin typeface="Calibri" pitchFamily="34" charset="0"/>
                <a:ea typeface="Calibri" pitchFamily="34" charset="-122"/>
                <a:cs typeface="Calibri" pitchFamily="34" charset="-120"/>
              </a:rPr>
              <a:t>Each observation comprises a state, sector, and year. For 37 states (including the FCT) in 2 sectors across a 6-year period, adding up to 444 total observations. They also comprise the following columns:</a:t>
            </a:r>
            <a:endParaRPr lang="en-US" sz="14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327648" y="3108960"/>
          <a:ext cx="5394960" cy="914400"/>
        </p:xfrm>
        <a:graphic>
          <a:graphicData uri="http://schemas.openxmlformats.org/drawingml/2006/table">
            <a:tbl>
              <a:tblPr/>
              <a:tblGrid>
                <a:gridCol w="2697480"/>
                <a:gridCol w="2697480"/>
              </a:tblGrid>
              <a:tr h="36576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Column</a:t>
                      </a:r>
                      <a:endParaRPr lang="en-US" sz="1400" dirty="0">
                        <a:latin typeface="Calibri" charset="0"/>
                        <a:ea typeface="Calibri" charset="0"/>
                        <a:cs typeface="Calibri" charset="0"/>
                      </a:endParaRPr>
                    </a:p>
                  </a:txBody>
                  <a:tcPr marL="91440" marR="91440" marT="27432" marB="27432" anchor="ct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1B4332"/>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Years</a:t>
                      </a:r>
                      <a:endParaRPr lang="en-US" sz="1400" dirty="0">
                        <a:latin typeface="Calibri" charset="0"/>
                        <a:ea typeface="Calibri" charset="0"/>
                        <a:cs typeface="Calibri" charset="0"/>
                      </a:endParaRPr>
                    </a:p>
                  </a:txBody>
                  <a:tcPr marL="91440" marR="91440" marT="27432" marB="27432" anchor="ct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1B4332"/>
                    </a:solidFill>
                  </a:tcPr>
                </a:tc>
              </a:tr>
              <a:tr h="365760">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student_teacher_ratio</a:t>
                      </a:r>
                      <a:endParaRPr lang="en-US" sz="1350" dirty="0">
                        <a:latin typeface="Calibri" charset="0"/>
                        <a:ea typeface="Calibri" charset="0"/>
                        <a:cs typeface="Calibri" charset="0"/>
                      </a:endParaRPr>
                    </a:p>
                  </a:txBody>
                  <a:tcPr marL="91440" marR="91440" marT="27432" marB="27432" anchor="ct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B2B2B"/>
                          </a:solidFill>
                          <a:latin typeface="Calibri" pitchFamily="34" charset="0"/>
                          <a:ea typeface="Calibri" pitchFamily="34" charset="-122"/>
                          <a:cs typeface="Calibri" pitchFamily="34" charset="-120"/>
                        </a:rPr>
                        <a:t>2016–2021 (private 2017 missing)</a:t>
                      </a:r>
                      <a:endParaRPr lang="en-US" sz="1350" dirty="0">
                        <a:latin typeface="Calibri" charset="0"/>
                        <a:ea typeface="Calibri" charset="0"/>
                        <a:cs typeface="Calibri" charset="0"/>
                      </a:endParaRPr>
                    </a:p>
                  </a:txBody>
                  <a:tcPr marL="91440" marR="91440" marT="27432" marB="27432" anchor="ct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r>
              <a:tr h="365760">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qualified_teacher_pct</a:t>
                      </a:r>
                      <a:endParaRPr lang="en-US" sz="1350" dirty="0">
                        <a:latin typeface="Calibri" charset="0"/>
                        <a:ea typeface="Calibri" charset="0"/>
                        <a:cs typeface="Calibri" charset="0"/>
                      </a:endParaRPr>
                    </a:p>
                  </a:txBody>
                  <a:tcPr marL="91440" marR="91440" marT="27432" marB="27432" anchor="ct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1ECE4"/>
                    </a:solidFill>
                  </a:tcPr>
                </a:tc>
                <a:tc>
                  <a:txBody>
                    <a:bodyPr/>
                    <a:lstStyle/>
                    <a:p>
                      <a:pPr algn="ctr" indent="0" marL="0">
                        <a:buNone/>
                      </a:pPr>
                      <a:r>
                        <a:rPr lang="en-US" sz="1350" dirty="0">
                          <a:solidFill>
                            <a:srgbClr val="2B2B2B"/>
                          </a:solidFill>
                          <a:latin typeface="Calibri" pitchFamily="34" charset="0"/>
                          <a:ea typeface="Calibri" pitchFamily="34" charset="-122"/>
                          <a:cs typeface="Calibri" pitchFamily="34" charset="-120"/>
                        </a:rPr>
                        <a:t>2016–2021 (private 2017 missing)</a:t>
                      </a:r>
                      <a:endParaRPr lang="en-US" sz="1350" dirty="0">
                        <a:latin typeface="Calibri" charset="0"/>
                        <a:ea typeface="Calibri" charset="0"/>
                        <a:cs typeface="Calibri" charset="0"/>
                      </a:endParaRPr>
                    </a:p>
                  </a:txBody>
                  <a:tcPr marL="91440" marR="91440" marT="27432" marB="27432" anchor="ct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1ECE4"/>
                    </a:solidFill>
                  </a:tcPr>
                </a:tc>
              </a:tr>
              <a:tr h="365760">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students_per_qualified_teacher</a:t>
                      </a:r>
                      <a:endParaRPr lang="en-US" sz="1350" dirty="0">
                        <a:latin typeface="Calibri" charset="0"/>
                        <a:ea typeface="Calibri" charset="0"/>
                        <a:cs typeface="Calibri" charset="0"/>
                      </a:endParaRPr>
                    </a:p>
                  </a:txBody>
                  <a:tcPr marL="91440" marR="91440" marT="27432" marB="27432" anchor="ct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B2B2B"/>
                          </a:solidFill>
                          <a:latin typeface="Calibri" pitchFamily="34" charset="0"/>
                          <a:ea typeface="Calibri" pitchFamily="34" charset="-122"/>
                          <a:cs typeface="Calibri" pitchFamily="34" charset="-120"/>
                        </a:rPr>
                        <a:t>2016–2021 (private 2017 missing)</a:t>
                      </a:r>
                      <a:endParaRPr lang="en-US" sz="1350" dirty="0">
                        <a:latin typeface="Calibri" charset="0"/>
                        <a:ea typeface="Calibri" charset="0"/>
                        <a:cs typeface="Calibri" charset="0"/>
                      </a:endParaRPr>
                    </a:p>
                  </a:txBody>
                  <a:tcPr marL="91440" marR="91440" marT="27432" marB="27432" anchor="ct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r>
              <a:tr h="365760">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students_per_school</a:t>
                      </a:r>
                      <a:endParaRPr lang="en-US" sz="1350" dirty="0">
                        <a:latin typeface="Calibri" charset="0"/>
                        <a:ea typeface="Calibri" charset="0"/>
                        <a:cs typeface="Calibri" charset="0"/>
                      </a:endParaRPr>
                    </a:p>
                  </a:txBody>
                  <a:tcPr marL="91440" marR="91440" marT="27432" marB="27432" anchor="ct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1ECE4"/>
                    </a:solidFill>
                  </a:tcPr>
                </a:tc>
                <a:tc>
                  <a:txBody>
                    <a:bodyPr/>
                    <a:lstStyle/>
                    <a:p>
                      <a:pPr algn="ctr" indent="0" marL="0">
                        <a:buNone/>
                      </a:pPr>
                      <a:r>
                        <a:rPr lang="en-US" sz="1350" dirty="0">
                          <a:solidFill>
                            <a:srgbClr val="2B2B2B"/>
                          </a:solidFill>
                          <a:latin typeface="Calibri" pitchFamily="34" charset="0"/>
                          <a:ea typeface="Calibri" pitchFamily="34" charset="-122"/>
                          <a:cs typeface="Calibri" pitchFamily="34" charset="-120"/>
                        </a:rPr>
                        <a:t>2016–2017</a:t>
                      </a:r>
                      <a:endParaRPr lang="en-US" sz="1350" dirty="0">
                        <a:latin typeface="Calibri" charset="0"/>
                        <a:ea typeface="Calibri" charset="0"/>
                        <a:cs typeface="Calibri" charset="0"/>
                      </a:endParaRPr>
                    </a:p>
                  </a:txBody>
                  <a:tcPr marL="91440" marR="91440" marT="27432" marB="27432" anchor="ct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1ECE4"/>
                    </a:solidFill>
                  </a:tcPr>
                </a:tc>
              </a:tr>
              <a:tr h="365760">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students_per_good_classroom</a:t>
                      </a:r>
                      <a:endParaRPr lang="en-US" sz="1350" dirty="0">
                        <a:latin typeface="Calibri" charset="0"/>
                        <a:ea typeface="Calibri" charset="0"/>
                        <a:cs typeface="Calibri" charset="0"/>
                      </a:endParaRPr>
                    </a:p>
                  </a:txBody>
                  <a:tcPr marL="91440" marR="91440" marT="27432" marB="27432" anchor="ct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B2B2B"/>
                          </a:solidFill>
                          <a:latin typeface="Calibri" pitchFamily="34" charset="0"/>
                          <a:ea typeface="Calibri" pitchFamily="34" charset="-122"/>
                          <a:cs typeface="Calibri" pitchFamily="34" charset="-120"/>
                        </a:rPr>
                        <a:t>2019–2021</a:t>
                      </a:r>
                      <a:endParaRPr lang="en-US" sz="1350" dirty="0">
                        <a:latin typeface="Calibri" charset="0"/>
                        <a:ea typeface="Calibri" charset="0"/>
                        <a:cs typeface="Calibri" charset="0"/>
                      </a:endParaRPr>
                    </a:p>
                  </a:txBody>
                  <a:tcPr marL="91440" marR="91440" marT="27432" marB="27432" anchor="ct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r>
              <a:tr h="365760">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good_classroom_pct</a:t>
                      </a:r>
                      <a:endParaRPr lang="en-US" sz="1350" dirty="0">
                        <a:latin typeface="Calibri" charset="0"/>
                        <a:ea typeface="Calibri" charset="0"/>
                        <a:cs typeface="Calibri" charset="0"/>
                      </a:endParaRPr>
                    </a:p>
                  </a:txBody>
                  <a:tcPr marL="91440" marR="91440" marT="27432" marB="27432" anchor="ct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1ECE4"/>
                    </a:solidFill>
                  </a:tcPr>
                </a:tc>
                <a:tc>
                  <a:txBody>
                    <a:bodyPr/>
                    <a:lstStyle/>
                    <a:p>
                      <a:pPr algn="ctr" indent="0" marL="0">
                        <a:buNone/>
                      </a:pPr>
                      <a:r>
                        <a:rPr lang="en-US" sz="1350" dirty="0">
                          <a:solidFill>
                            <a:srgbClr val="2B2B2B"/>
                          </a:solidFill>
                          <a:latin typeface="Calibri" pitchFamily="34" charset="0"/>
                          <a:ea typeface="Calibri" pitchFamily="34" charset="-122"/>
                          <a:cs typeface="Calibri" pitchFamily="34" charset="-120"/>
                        </a:rPr>
                        <a:t>2019–2021</a:t>
                      </a:r>
                      <a:endParaRPr lang="en-US" sz="1350" dirty="0">
                        <a:latin typeface="Calibri" charset="0"/>
                        <a:ea typeface="Calibri" charset="0"/>
                        <a:cs typeface="Calibri" charset="0"/>
                      </a:endParaRPr>
                    </a:p>
                  </a:txBody>
                  <a:tcPr marL="91440" marR="91440" marT="27432" marB="27432" anchor="ct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1ECE4"/>
                    </a:solidFill>
                  </a:tcPr>
                </a:tc>
              </a:tr>
              <a:tr h="365760">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students_per_toilet</a:t>
                      </a:r>
                      <a:endParaRPr lang="en-US" sz="1350" dirty="0">
                        <a:latin typeface="Calibri" charset="0"/>
                        <a:ea typeface="Calibri" charset="0"/>
                        <a:cs typeface="Calibri" charset="0"/>
                      </a:endParaRPr>
                    </a:p>
                  </a:txBody>
                  <a:tcPr marL="91440" marR="91440" marT="27432" marB="27432" anchor="ct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B2B2B"/>
                          </a:solidFill>
                          <a:latin typeface="Calibri" pitchFamily="34" charset="0"/>
                          <a:ea typeface="Calibri" pitchFamily="34" charset="-122"/>
                          <a:cs typeface="Calibri" pitchFamily="34" charset="-120"/>
                        </a:rPr>
                        <a:t>2019–2021</a:t>
                      </a:r>
                      <a:endParaRPr lang="en-US" sz="1350" dirty="0">
                        <a:latin typeface="Calibri" charset="0"/>
                        <a:ea typeface="Calibri" charset="0"/>
                        <a:cs typeface="Calibri" charset="0"/>
                      </a:endParaRPr>
                    </a:p>
                  </a:txBody>
                  <a:tcPr marL="91440" marR="91440" marT="27432" marB="27432" anchor="ct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FFFFF"/>
                    </a:solidFill>
                  </a:tcPr>
                </a:tc>
              </a:tr>
              <a:tr h="365760">
                <a:tc>
                  <a:txBody>
                    <a:bodyPr/>
                    <a:lstStyle/>
                    <a:p>
                      <a:pPr indent="0" marL="0">
                        <a:buNone/>
                      </a:pPr>
                      <a:r>
                        <a:rPr lang="en-US" sz="1350" dirty="0">
                          <a:solidFill>
                            <a:srgbClr val="2B2B2B"/>
                          </a:solidFill>
                          <a:latin typeface="Calibri" pitchFamily="34" charset="0"/>
                          <a:ea typeface="Calibri" pitchFamily="34" charset="-122"/>
                          <a:cs typeface="Calibri" pitchFamily="34" charset="-120"/>
                        </a:rPr>
                        <a:t>pass_rate (outcome)</a:t>
                      </a:r>
                      <a:endParaRPr lang="en-US" sz="1350" dirty="0">
                        <a:latin typeface="Calibri" charset="0"/>
                        <a:ea typeface="Calibri" charset="0"/>
                        <a:cs typeface="Calibri" charset="0"/>
                      </a:endParaRPr>
                    </a:p>
                  </a:txBody>
                  <a:tcPr marL="91440" marR="91440" marT="27432" marB="27432" anchor="ct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1ECE4"/>
                    </a:solidFill>
                  </a:tcPr>
                </a:tc>
                <a:tc>
                  <a:txBody>
                    <a:bodyPr/>
                    <a:lstStyle/>
                    <a:p>
                      <a:pPr algn="ctr" indent="0" marL="0">
                        <a:buNone/>
                      </a:pPr>
                      <a:r>
                        <a:rPr lang="en-US" sz="1350" dirty="0">
                          <a:solidFill>
                            <a:srgbClr val="2B2B2B"/>
                          </a:solidFill>
                          <a:latin typeface="Calibri" pitchFamily="34" charset="0"/>
                          <a:ea typeface="Calibri" pitchFamily="34" charset="-122"/>
                          <a:cs typeface="Calibri" pitchFamily="34" charset="-120"/>
                        </a:rPr>
                        <a:t>2016–2021</a:t>
                      </a:r>
                      <a:endParaRPr lang="en-US" sz="1350" dirty="0">
                        <a:latin typeface="Calibri" charset="0"/>
                        <a:ea typeface="Calibri" charset="0"/>
                        <a:cs typeface="Calibri" charset="0"/>
                      </a:endParaRPr>
                    </a:p>
                  </a:txBody>
                  <a:tcPr marL="91440" marR="91440" marT="27432" marB="27432" anchor="ctr">
                    <a:lnL w="9525" cap="flat" cmpd="sng" algn="ctr">
                      <a:solidFill>
                        <a:srgbClr val="E5E0D8"/>
                      </a:solidFill>
                      <a:prstDash val="solid"/>
                      <a:round/>
                      <a:headEnd type="none" w="med" len="med"/>
                      <a:tailEnd type="none" w="med" len="med"/>
                    </a:lnL>
                    <a:lnR w="9525" cap="flat" cmpd="sng" algn="ctr">
                      <a:solidFill>
                        <a:srgbClr val="E5E0D8"/>
                      </a:solidFill>
                      <a:prstDash val="solid"/>
                      <a:round/>
                      <a:headEnd type="none" w="med" len="med"/>
                      <a:tailEnd type="none" w="med" len="med"/>
                    </a:lnR>
                    <a:lnT w="9525" cap="flat" cmpd="sng" algn="ctr">
                      <a:solidFill>
                        <a:srgbClr val="E5E0D8"/>
                      </a:solidFill>
                      <a:prstDash val="solid"/>
                      <a:round/>
                      <a:headEnd type="none" w="med" len="med"/>
                      <a:tailEnd type="none" w="med" len="med"/>
                    </a:lnT>
                    <a:lnB w="9525" cap="flat" cmpd="sng" algn="ctr">
                      <a:solidFill>
                        <a:srgbClr val="E5E0D8"/>
                      </a:solidFill>
                      <a:prstDash val="solid"/>
                      <a:round/>
                      <a:headEnd type="none" w="med" len="med"/>
                      <a:tailEnd type="none" w="med" len="med"/>
                    </a:lnB>
                    <a:solidFill>
                      <a:srgbClr val="F1ECE4"/>
                    </a:solidFill>
                  </a:tcPr>
                </a:tc>
              </a:tr>
            </a:tbl>
          </a:graphicData>
        </a:graphic>
      </p:graphicFrame>
      <p:sp>
        <p:nvSpPr>
          <p:cNvPr id="25" name="Slide Number Placeholder 0"/>
          <p:cNvSpPr>
            <a:spLocks noGrp="1"/>
          </p:cNvSpPr>
          <p:nvPr>
            <p:ph type="sldNum" sz="quarter" idx="4294967295"/>
          </p:nvPr>
        </p:nvSpPr>
        <p:spPr>
          <a:xfrm>
            <a:off x="11277295" y="6510528"/>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pill"/>
          <p:cNvSpPr/>
          <p:nvPr/>
        </p:nvSpPr>
        <p:spPr>
          <a:xfrm>
            <a:off x="457200" y="411480"/>
            <a:ext cx="2194560" cy="347472"/>
          </a:xfrm>
          <a:prstGeom prst="roundRect">
            <a:avLst>
              <a:gd name="adj" fmla="val 50000"/>
            </a:avLst>
          </a:prstGeom>
          <a:solidFill>
            <a:srgbClr val="D4A373"/>
          </a:solidFill>
          <a:ln w="12700">
            <a:solidFill>
              <a:srgbClr val="D4A373"/>
            </a:solidFill>
            <a:prstDash val="solid"/>
          </a:ln>
        </p:spPr>
      </p:sp>
      <p:sp>
        <p:nvSpPr>
          <p:cNvPr id="3" name="Text 1"/>
          <p:cNvSpPr txBox="1"/>
          <p:nvPr/>
        </p:nvSpPr>
        <p:spPr>
          <a:xfrm>
            <a:off x="457200" y="411480"/>
            <a:ext cx="2194560" cy="347472"/>
          </a:xfrm>
          <a:prstGeom prst="rect">
            <a:avLst/>
          </a:prstGeom>
          <a:noFill/>
          <a:ln/>
        </p:spPr>
        <p:txBody>
          <a:bodyPr wrap="square" lIns="0" tIns="0" rIns="0" bIns="0" rtlCol="0" anchor="ctr"/>
          <a:lstStyle/>
          <a:p>
            <a:pPr algn="ctr" indent="0" marL="0">
              <a:buNone/>
            </a:pPr>
            <a:r>
              <a:rPr lang="en-US" sz="1100" b="1" spc="150" kern="0" dirty="0">
                <a:solidFill>
                  <a:srgbClr val="0F2A1D"/>
                </a:solidFill>
                <a:latin typeface="Calibri" pitchFamily="34" charset="0"/>
                <a:ea typeface="Calibri" pitchFamily="34" charset="-122"/>
                <a:cs typeface="Calibri" pitchFamily="34" charset="-120"/>
              </a:rPr>
              <a:t>METHODOLOGY</a:t>
            </a:r>
            <a:endParaRPr lang="en-US" sz="1100" dirty="0"/>
          </a:p>
        </p:txBody>
      </p:sp>
      <p:sp>
        <p:nvSpPr>
          <p:cNvPr id="4" name="Text 0"/>
          <p:cNvSpPr/>
          <p:nvPr>
            <p:ph idx="100" type="title" hasCustomPrompt="1"/>
          </p:nvPr>
        </p:nvSpPr>
        <p:spPr>
          <a:xfrm>
            <a:off x="457200" y="914400"/>
            <a:ext cx="11277295" cy="731520"/>
          </a:xfrm>
          <a:prstGeom prst="rect">
            <a:avLst/>
          </a:prstGeom>
          <a:noFill/>
          <a:ln/>
        </p:spPr>
        <p:txBody>
          <a:bodyPr wrap="square" lIns="0" tIns="0" rIns="0" bIns="0" rtlCol="0" anchor="ctr"/>
          <a:lstStyle/>
          <a:p>
            <a:pPr algn="l" indent="0" marL="0">
              <a:buNone/>
            </a:pPr>
            <a:r>
              <a:rPr lang="en-US" sz="3400" b="1" dirty="0">
                <a:solidFill>
                  <a:srgbClr val="0F2A1D"/>
                </a:solidFill>
                <a:latin typeface="Cambria" pitchFamily="34" charset="0"/>
                <a:ea typeface="Cambria" pitchFamily="34" charset="-122"/>
                <a:cs typeface="Cambria" pitchFamily="34" charset="-120"/>
              </a:rPr>
              <a:t>Statistical Approaches</a:t>
            </a:r>
            <a:endParaRPr lang="en-US" sz="3400" dirty="0"/>
          </a:p>
        </p:txBody>
      </p:sp>
      <p:sp>
        <p:nvSpPr>
          <p:cNvPr id="5" name="card"/>
          <p:cNvSpPr/>
          <p:nvPr/>
        </p:nvSpPr>
        <p:spPr>
          <a:xfrm>
            <a:off x="457200" y="1828800"/>
            <a:ext cx="5394960" cy="4251960"/>
          </a:xfrm>
          <a:prstGeom prst="rect">
            <a:avLst/>
          </a:prstGeom>
          <a:solidFill>
            <a:srgbClr val="FFFFFF"/>
          </a:solidFill>
          <a:ln w="9525">
            <a:solidFill>
              <a:srgbClr val="E5E0D8"/>
            </a:solidFill>
            <a:prstDash val="solid"/>
          </a:ln>
        </p:spPr>
      </p:sp>
      <p:sp>
        <p:nvSpPr>
          <p:cNvPr id="6" name="Text 4"/>
          <p:cNvSpPr txBox="1"/>
          <p:nvPr/>
        </p:nvSpPr>
        <p:spPr>
          <a:xfrm>
            <a:off x="731520" y="2057400"/>
            <a:ext cx="4846320" cy="411480"/>
          </a:xfrm>
          <a:prstGeom prst="rect">
            <a:avLst/>
          </a:prstGeom>
          <a:noFill/>
          <a:ln/>
        </p:spPr>
        <p:txBody>
          <a:bodyPr wrap="square" lIns="0" tIns="0" rIns="0" bIns="0" rtlCol="0" anchor="ctr"/>
          <a:lstStyle/>
          <a:p>
            <a:pPr indent="0" marL="0">
              <a:buNone/>
            </a:pPr>
            <a:r>
              <a:rPr lang="en-US" sz="2000" b="1" dirty="0">
                <a:solidFill>
                  <a:srgbClr val="1B4332"/>
                </a:solidFill>
                <a:latin typeface="Cambria" pitchFamily="34" charset="0"/>
                <a:ea typeface="Cambria" pitchFamily="34" charset="-122"/>
                <a:cs typeface="Cambria" pitchFamily="34" charset="-120"/>
              </a:rPr>
              <a:t>Correlation Analysis</a:t>
            </a:r>
            <a:endParaRPr lang="en-US" sz="2000" dirty="0"/>
          </a:p>
        </p:txBody>
      </p:sp>
      <p:sp>
        <p:nvSpPr>
          <p:cNvPr id="7" name="Text 5"/>
          <p:cNvSpPr txBox="1"/>
          <p:nvPr/>
        </p:nvSpPr>
        <p:spPr>
          <a:xfrm>
            <a:off x="731520" y="2606040"/>
            <a:ext cx="4846320" cy="329184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2B2B2B"/>
                </a:solidFill>
                <a:latin typeface="Calibri" pitchFamily="34" charset="0"/>
                <a:ea typeface="Calibri" pitchFamily="34" charset="-122"/>
                <a:cs typeface="Calibri" pitchFamily="34" charset="-120"/>
              </a:rPr>
              <a:t>Pearson's r, which measures the strength of a linear relationship between two numerical variables.</a:t>
            </a:r>
            <a:endParaRPr lang="en-US" sz="1450" dirty="0"/>
          </a:p>
          <a:p>
            <a:pPr marL="342900" indent="-342900">
              <a:spcAft>
                <a:spcPts val="1000"/>
              </a:spcAft>
              <a:buSzPct val="100000"/>
              <a:buChar char="•"/>
            </a:pPr>
            <a:r>
              <a:rPr lang="en-US" sz="1450" dirty="0">
                <a:solidFill>
                  <a:srgbClr val="2B2B2B"/>
                </a:solidFill>
                <a:latin typeface="Calibri" pitchFamily="34" charset="0"/>
                <a:ea typeface="Calibri" pitchFamily="34" charset="-122"/>
                <a:cs typeface="Calibri" pitchFamily="34" charset="-120"/>
              </a:rPr>
              <a:t>Spearman's ρ, which measures the strength of a monotonic relationship between two numerical variables.</a:t>
            </a:r>
            <a:endParaRPr lang="en-US" sz="1450" dirty="0"/>
          </a:p>
          <a:p>
            <a:pPr marL="342900" indent="-342900">
              <a:spcAft>
                <a:spcPts val="1000"/>
              </a:spcAft>
              <a:buSzPct val="100000"/>
              <a:buChar char="•"/>
            </a:pPr>
            <a:r>
              <a:rPr lang="en-US" sz="1450" dirty="0">
                <a:solidFill>
                  <a:srgbClr val="2B2B2B"/>
                </a:solidFill>
                <a:latin typeface="Calibri" pitchFamily="34" charset="0"/>
                <a:ea typeface="Calibri" pitchFamily="34" charset="-122"/>
                <a:cs typeface="Calibri" pitchFamily="34" charset="-120"/>
              </a:rPr>
              <a:t>Computed on year-and-sector-demeaned values as well as on raw pooled values, since pooled values differ drastically.</a:t>
            </a:r>
            <a:endParaRPr lang="en-US" sz="1450" dirty="0"/>
          </a:p>
        </p:txBody>
      </p:sp>
      <p:sp>
        <p:nvSpPr>
          <p:cNvPr id="8" name="card"/>
          <p:cNvSpPr/>
          <p:nvPr/>
        </p:nvSpPr>
        <p:spPr>
          <a:xfrm>
            <a:off x="6309360" y="1828800"/>
            <a:ext cx="5394960" cy="4251960"/>
          </a:xfrm>
          <a:prstGeom prst="rect">
            <a:avLst/>
          </a:prstGeom>
          <a:solidFill>
            <a:srgbClr val="1B4332"/>
          </a:solidFill>
          <a:ln w="9525">
            <a:solidFill>
              <a:srgbClr val="1B4332"/>
            </a:solidFill>
            <a:prstDash val="solid"/>
          </a:ln>
        </p:spPr>
      </p:sp>
      <p:sp>
        <p:nvSpPr>
          <p:cNvPr id="9" name="Text 7"/>
          <p:cNvSpPr txBox="1"/>
          <p:nvPr/>
        </p:nvSpPr>
        <p:spPr>
          <a:xfrm>
            <a:off x="6583680" y="2057400"/>
            <a:ext cx="4846320" cy="4114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Partial Correlation</a:t>
            </a:r>
            <a:endParaRPr lang="en-US" sz="2000" dirty="0"/>
          </a:p>
        </p:txBody>
      </p:sp>
      <p:sp>
        <p:nvSpPr>
          <p:cNvPr id="10" name="Text 8"/>
          <p:cNvSpPr txBox="1"/>
          <p:nvPr/>
        </p:nvSpPr>
        <p:spPr>
          <a:xfrm>
            <a:off x="6583680" y="2606040"/>
            <a:ext cx="4846320" cy="329184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Measures the correlation between each resource and the pass rate after removing the part explained by the other resources.</a:t>
            </a:r>
            <a:endParaRPr lang="en-US" sz="1450" dirty="0"/>
          </a:p>
          <a:p>
            <a:pPr marL="342900" indent="-342900">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Year × sector held constant, so the 2018–2019 private shift cannot create a false link.</a:t>
            </a:r>
            <a:endParaRPr lang="en-US" sz="1450" dirty="0"/>
          </a:p>
          <a:p>
            <a:pPr marL="342900" indent="-342900">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Pearson (log ratios) and Spearman (ranks) versions, with p-values and 95% confidence intervals.</a:t>
            </a:r>
            <a:endParaRPr lang="en-US" sz="1450" dirty="0"/>
          </a:p>
          <a:p>
            <a:pPr marL="342900" indent="-342900">
              <a:spcAft>
                <a:spcPts val="1000"/>
              </a:spcAft>
              <a:buSzPct val="100000"/>
              <a:buChar char="•"/>
            </a:pPr>
            <a:r>
              <a:rPr lang="en-US" sz="1450" dirty="0">
                <a:solidFill>
                  <a:srgbClr val="FFFFFF"/>
                </a:solidFill>
                <a:latin typeface="Calibri" pitchFamily="34" charset="0"/>
                <a:ea typeface="Calibri" pitchFamily="34" charset="-122"/>
                <a:cs typeface="Calibri" pitchFamily="34" charset="-120"/>
              </a:rPr>
              <a:t>Three feature sets: teachers 2016–2021, all resources 2019–2021, school size 2016–2017.</a:t>
            </a:r>
            <a:endParaRPr lang="en-US" sz="1450" dirty="0"/>
          </a:p>
        </p:txBody>
      </p:sp>
      <p:sp>
        <p:nvSpPr>
          <p:cNvPr id="25" name="Slide Number Placeholder 0"/>
          <p:cNvSpPr>
            <a:spLocks noGrp="1"/>
          </p:cNvSpPr>
          <p:nvPr>
            <p:ph type="sldNum" sz="quarter" idx="4294967295"/>
          </p:nvPr>
        </p:nvSpPr>
        <p:spPr>
          <a:xfrm>
            <a:off x="11277295" y="6510528"/>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pill"/>
          <p:cNvSpPr/>
          <p:nvPr/>
        </p:nvSpPr>
        <p:spPr>
          <a:xfrm>
            <a:off x="457200" y="411480"/>
            <a:ext cx="2194560" cy="347472"/>
          </a:xfrm>
          <a:prstGeom prst="roundRect">
            <a:avLst>
              <a:gd name="adj" fmla="val 50000"/>
            </a:avLst>
          </a:prstGeom>
          <a:solidFill>
            <a:srgbClr val="D4A373"/>
          </a:solidFill>
          <a:ln w="12700">
            <a:solidFill>
              <a:srgbClr val="D4A373"/>
            </a:solidFill>
            <a:prstDash val="solid"/>
          </a:ln>
        </p:spPr>
      </p:sp>
      <p:sp>
        <p:nvSpPr>
          <p:cNvPr id="3" name="Text 1"/>
          <p:cNvSpPr txBox="1"/>
          <p:nvPr/>
        </p:nvSpPr>
        <p:spPr>
          <a:xfrm>
            <a:off x="457200" y="411480"/>
            <a:ext cx="2194560" cy="347472"/>
          </a:xfrm>
          <a:prstGeom prst="rect">
            <a:avLst/>
          </a:prstGeom>
          <a:noFill/>
          <a:ln/>
        </p:spPr>
        <p:txBody>
          <a:bodyPr wrap="square" lIns="0" tIns="0" rIns="0" bIns="0" rtlCol="0" anchor="ctr"/>
          <a:lstStyle/>
          <a:p>
            <a:pPr algn="ctr" indent="0" marL="0">
              <a:buNone/>
            </a:pPr>
            <a:r>
              <a:rPr lang="en-US" sz="1100" b="1" spc="150" kern="0" dirty="0">
                <a:solidFill>
                  <a:srgbClr val="0F2A1D"/>
                </a:solidFill>
                <a:latin typeface="Calibri" pitchFamily="34" charset="0"/>
                <a:ea typeface="Calibri" pitchFamily="34" charset="-122"/>
                <a:cs typeface="Calibri" pitchFamily="34" charset="-120"/>
              </a:rPr>
              <a:t>VISUALIZATION &amp; ANALYSIS</a:t>
            </a:r>
            <a:endParaRPr lang="en-US" sz="1100" dirty="0"/>
          </a:p>
        </p:txBody>
      </p:sp>
      <p:sp>
        <p:nvSpPr>
          <p:cNvPr id="4" name="Text 0"/>
          <p:cNvSpPr/>
          <p:nvPr>
            <p:ph idx="100" type="title" hasCustomPrompt="1"/>
          </p:nvPr>
        </p:nvSpPr>
        <p:spPr>
          <a:xfrm>
            <a:off x="457200" y="914400"/>
            <a:ext cx="11277295" cy="731520"/>
          </a:xfrm>
          <a:prstGeom prst="rect">
            <a:avLst/>
          </a:prstGeom>
          <a:noFill/>
          <a:ln/>
        </p:spPr>
        <p:txBody>
          <a:bodyPr wrap="square" lIns="0" tIns="0" rIns="0" bIns="0" rtlCol="0" anchor="ctr"/>
          <a:lstStyle/>
          <a:p>
            <a:pPr algn="l" indent="0" marL="0">
              <a:buNone/>
            </a:pPr>
            <a:r>
              <a:rPr lang="en-US" sz="3400" b="1" dirty="0">
                <a:solidFill>
                  <a:srgbClr val="0F2A1D"/>
                </a:solidFill>
                <a:latin typeface="Cambria" pitchFamily="34" charset="0"/>
                <a:ea typeface="Cambria" pitchFamily="34" charset="-122"/>
                <a:cs typeface="Cambria" pitchFamily="34" charset="-120"/>
              </a:rPr>
              <a:t>WAEC Pass Rates Over Time, by Sector</a:t>
            </a:r>
            <a:endParaRPr lang="en-US" sz="3400" dirty="0"/>
          </a:p>
        </p:txBody>
      </p:sp>
      <p:sp>
        <p:nvSpPr>
          <p:cNvPr id="5" name="image frame"/>
          <p:cNvSpPr/>
          <p:nvPr/>
        </p:nvSpPr>
        <p:spPr>
          <a:xfrm>
            <a:off x="1557997" y="1737360"/>
            <a:ext cx="9045526" cy="4434840"/>
          </a:xfrm>
          <a:prstGeom prst="rect">
            <a:avLst/>
          </a:prstGeom>
          <a:solidFill>
            <a:srgbClr val="FFFFFF"/>
          </a:solidFill>
          <a:ln w="12700">
            <a:solidFill>
              <a:srgbClr val="FFFFFF"/>
            </a:solidFill>
            <a:prstDash val="solid"/>
          </a:ln>
        </p:spPr>
      </p:sp>
      <p:pic>
        <p:nvPicPr>
          <p:cNvPr id="6" name="Image 0" descr="img_395.png">    </p:cNvPr>
          <p:cNvPicPr>
            <a:picLocks noChangeAspect="1"/>
          </p:cNvPicPr>
          <p:nvPr/>
        </p:nvPicPr>
        <p:blipFill>
          <a:blip r:embed="rId1"/>
          <a:stretch>
            <a:fillRect/>
          </a:stretch>
        </p:blipFill>
        <p:spPr>
          <a:xfrm>
            <a:off x="1603717" y="1783080"/>
            <a:ext cx="8954086" cy="4343400"/>
          </a:xfrm>
          <a:prstGeom prst="rect">
            <a:avLst/>
          </a:prstGeom>
        </p:spPr>
      </p:pic>
      <p:sp>
        <p:nvSpPr>
          <p:cNvPr id="25" name="Slide Number Placeholder 0"/>
          <p:cNvSpPr>
            <a:spLocks noGrp="1"/>
          </p:cNvSpPr>
          <p:nvPr>
            <p:ph type="sldNum" sz="quarter" idx="4294967295"/>
          </p:nvPr>
        </p:nvSpPr>
        <p:spPr>
          <a:xfrm>
            <a:off x="11277295" y="6510528"/>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pill"/>
          <p:cNvSpPr/>
          <p:nvPr/>
        </p:nvSpPr>
        <p:spPr>
          <a:xfrm>
            <a:off x="457200" y="411480"/>
            <a:ext cx="2194560" cy="347472"/>
          </a:xfrm>
          <a:prstGeom prst="roundRect">
            <a:avLst>
              <a:gd name="adj" fmla="val 50000"/>
            </a:avLst>
          </a:prstGeom>
          <a:solidFill>
            <a:srgbClr val="D4A373"/>
          </a:solidFill>
          <a:ln w="12700">
            <a:solidFill>
              <a:srgbClr val="D4A373"/>
            </a:solidFill>
            <a:prstDash val="solid"/>
          </a:ln>
        </p:spPr>
      </p:sp>
      <p:sp>
        <p:nvSpPr>
          <p:cNvPr id="3" name="Text 1"/>
          <p:cNvSpPr txBox="1"/>
          <p:nvPr/>
        </p:nvSpPr>
        <p:spPr>
          <a:xfrm>
            <a:off x="457200" y="411480"/>
            <a:ext cx="2194560" cy="347472"/>
          </a:xfrm>
          <a:prstGeom prst="rect">
            <a:avLst/>
          </a:prstGeom>
          <a:noFill/>
          <a:ln/>
        </p:spPr>
        <p:txBody>
          <a:bodyPr wrap="square" lIns="0" tIns="0" rIns="0" bIns="0" rtlCol="0" anchor="ctr"/>
          <a:lstStyle/>
          <a:p>
            <a:pPr algn="ctr" indent="0" marL="0">
              <a:buNone/>
            </a:pPr>
            <a:r>
              <a:rPr lang="en-US" sz="1100" b="1" spc="150" kern="0" dirty="0">
                <a:solidFill>
                  <a:srgbClr val="0F2A1D"/>
                </a:solidFill>
                <a:latin typeface="Calibri" pitchFamily="34" charset="0"/>
                <a:ea typeface="Calibri" pitchFamily="34" charset="-122"/>
                <a:cs typeface="Calibri" pitchFamily="34" charset="-120"/>
              </a:rPr>
              <a:t>VISUALIZATION &amp; ANALYSIS</a:t>
            </a:r>
            <a:endParaRPr lang="en-US" sz="1100" dirty="0"/>
          </a:p>
        </p:txBody>
      </p:sp>
      <p:sp>
        <p:nvSpPr>
          <p:cNvPr id="4" name="Text 0"/>
          <p:cNvSpPr/>
          <p:nvPr>
            <p:ph idx="100" type="title" hasCustomPrompt="1"/>
          </p:nvPr>
        </p:nvSpPr>
        <p:spPr>
          <a:xfrm>
            <a:off x="457200" y="914400"/>
            <a:ext cx="11277295" cy="731520"/>
          </a:xfrm>
          <a:prstGeom prst="rect">
            <a:avLst/>
          </a:prstGeom>
          <a:noFill/>
          <a:ln/>
        </p:spPr>
        <p:txBody>
          <a:bodyPr wrap="square" lIns="0" tIns="0" rIns="0" bIns="0" rtlCol="0" anchor="ctr"/>
          <a:lstStyle/>
          <a:p>
            <a:pPr algn="l" indent="0" marL="0">
              <a:buNone/>
            </a:pPr>
            <a:r>
              <a:rPr lang="en-US" sz="3400" b="1" dirty="0">
                <a:solidFill>
                  <a:srgbClr val="0F2A1D"/>
                </a:solidFill>
                <a:latin typeface="Cambria" pitchFamily="34" charset="0"/>
                <a:ea typeface="Cambria" pitchFamily="34" charset="-122"/>
                <a:cs typeface="Cambria" pitchFamily="34" charset="-120"/>
              </a:rPr>
              <a:t>Within-Year, Within-Sector Correlations</a:t>
            </a:r>
            <a:endParaRPr lang="en-US" sz="3400" dirty="0"/>
          </a:p>
        </p:txBody>
      </p:sp>
      <p:sp>
        <p:nvSpPr>
          <p:cNvPr id="5" name="image frame"/>
          <p:cNvSpPr/>
          <p:nvPr/>
        </p:nvSpPr>
        <p:spPr>
          <a:xfrm>
            <a:off x="3066686" y="1600200"/>
            <a:ext cx="6028149" cy="4846320"/>
          </a:xfrm>
          <a:prstGeom prst="rect">
            <a:avLst/>
          </a:prstGeom>
          <a:solidFill>
            <a:srgbClr val="FFFFFF"/>
          </a:solidFill>
          <a:ln w="12700">
            <a:solidFill>
              <a:srgbClr val="FFFFFF"/>
            </a:solidFill>
            <a:prstDash val="solid"/>
          </a:ln>
        </p:spPr>
      </p:sp>
      <p:pic>
        <p:nvPicPr>
          <p:cNvPr id="6" name="Image 0" descr="img_399.png">    </p:cNvPr>
          <p:cNvPicPr>
            <a:picLocks noChangeAspect="1"/>
          </p:cNvPicPr>
          <p:nvPr/>
        </p:nvPicPr>
        <p:blipFill>
          <a:blip r:embed="rId1"/>
          <a:stretch>
            <a:fillRect/>
          </a:stretch>
        </p:blipFill>
        <p:spPr>
          <a:xfrm>
            <a:off x="3112406" y="1645920"/>
            <a:ext cx="5936709" cy="4754880"/>
          </a:xfrm>
          <a:prstGeom prst="rect">
            <a:avLst/>
          </a:prstGeom>
        </p:spPr>
      </p:pic>
      <p:sp>
        <p:nvSpPr>
          <p:cNvPr id="25" name="Slide Number Placeholder 0"/>
          <p:cNvSpPr>
            <a:spLocks noGrp="1"/>
          </p:cNvSpPr>
          <p:nvPr>
            <p:ph type="sldNum" sz="quarter" idx="4294967295"/>
          </p:nvPr>
        </p:nvSpPr>
        <p:spPr>
          <a:xfrm>
            <a:off x="11277295" y="6510528"/>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pill"/>
          <p:cNvSpPr/>
          <p:nvPr/>
        </p:nvSpPr>
        <p:spPr>
          <a:xfrm>
            <a:off x="457200" y="411480"/>
            <a:ext cx="2194560" cy="347472"/>
          </a:xfrm>
          <a:prstGeom prst="roundRect">
            <a:avLst>
              <a:gd name="adj" fmla="val 50000"/>
            </a:avLst>
          </a:prstGeom>
          <a:solidFill>
            <a:srgbClr val="D4A373"/>
          </a:solidFill>
          <a:ln w="12700">
            <a:solidFill>
              <a:srgbClr val="D4A373"/>
            </a:solidFill>
            <a:prstDash val="solid"/>
          </a:ln>
        </p:spPr>
      </p:sp>
      <p:sp>
        <p:nvSpPr>
          <p:cNvPr id="3" name="Text 1"/>
          <p:cNvSpPr txBox="1"/>
          <p:nvPr/>
        </p:nvSpPr>
        <p:spPr>
          <a:xfrm>
            <a:off x="457200" y="411480"/>
            <a:ext cx="2194560" cy="347472"/>
          </a:xfrm>
          <a:prstGeom prst="rect">
            <a:avLst/>
          </a:prstGeom>
          <a:noFill/>
          <a:ln/>
        </p:spPr>
        <p:txBody>
          <a:bodyPr wrap="square" lIns="0" tIns="0" rIns="0" bIns="0" rtlCol="0" anchor="ctr"/>
          <a:lstStyle/>
          <a:p>
            <a:pPr algn="ctr" indent="0" marL="0">
              <a:buNone/>
            </a:pPr>
            <a:r>
              <a:rPr lang="en-US" sz="1100" b="1" spc="150" kern="0" dirty="0">
                <a:solidFill>
                  <a:srgbClr val="0F2A1D"/>
                </a:solidFill>
                <a:latin typeface="Calibri" pitchFamily="34" charset="0"/>
                <a:ea typeface="Calibri" pitchFamily="34" charset="-122"/>
                <a:cs typeface="Calibri" pitchFamily="34" charset="-120"/>
              </a:rPr>
              <a:t>VISUALIZATION &amp; ANALYSIS</a:t>
            </a:r>
            <a:endParaRPr lang="en-US" sz="1100" dirty="0"/>
          </a:p>
        </p:txBody>
      </p:sp>
      <p:sp>
        <p:nvSpPr>
          <p:cNvPr id="4" name="Text 0"/>
          <p:cNvSpPr/>
          <p:nvPr>
            <p:ph idx="100" type="title" hasCustomPrompt="1"/>
          </p:nvPr>
        </p:nvSpPr>
        <p:spPr>
          <a:xfrm>
            <a:off x="457200" y="914400"/>
            <a:ext cx="11277295" cy="731520"/>
          </a:xfrm>
          <a:prstGeom prst="rect">
            <a:avLst/>
          </a:prstGeom>
          <a:noFill/>
          <a:ln/>
        </p:spPr>
        <p:txBody>
          <a:bodyPr wrap="square" lIns="0" tIns="0" rIns="0" bIns="0" rtlCol="0" anchor="ctr"/>
          <a:lstStyle/>
          <a:p>
            <a:pPr algn="l" indent="0" marL="0">
              <a:buNone/>
            </a:pPr>
            <a:r>
              <a:rPr lang="en-US" sz="3400" b="1" dirty="0">
                <a:solidFill>
                  <a:srgbClr val="0F2A1D"/>
                </a:solidFill>
                <a:latin typeface="Cambria" pitchFamily="34" charset="0"/>
                <a:ea typeface="Cambria" pitchFamily="34" charset="-122"/>
                <a:cs typeface="Cambria" pitchFamily="34" charset="-120"/>
              </a:rPr>
              <a:t>Partial vs Ordinary Correlation, Public Schools</a:t>
            </a:r>
            <a:endParaRPr lang="en-US" sz="3400" dirty="0"/>
          </a:p>
        </p:txBody>
      </p:sp>
      <p:sp>
        <p:nvSpPr>
          <p:cNvPr id="5" name="image frame"/>
          <p:cNvSpPr/>
          <p:nvPr/>
        </p:nvSpPr>
        <p:spPr>
          <a:xfrm>
            <a:off x="411480" y="1964419"/>
            <a:ext cx="7680960" cy="3843562"/>
          </a:xfrm>
          <a:prstGeom prst="rect">
            <a:avLst/>
          </a:prstGeom>
          <a:solidFill>
            <a:srgbClr val="FFFFFF"/>
          </a:solidFill>
          <a:ln w="12700">
            <a:solidFill>
              <a:srgbClr val="FFFFFF"/>
            </a:solidFill>
            <a:prstDash val="solid"/>
          </a:ln>
        </p:spPr>
      </p:sp>
      <p:pic>
        <p:nvPicPr>
          <p:cNvPr id="6" name="Image 0" descr="img_406.png">    </p:cNvPr>
          <p:cNvPicPr>
            <a:picLocks noChangeAspect="1"/>
          </p:cNvPicPr>
          <p:nvPr/>
        </p:nvPicPr>
        <p:blipFill>
          <a:blip r:embed="rId1"/>
          <a:stretch>
            <a:fillRect/>
          </a:stretch>
        </p:blipFill>
        <p:spPr>
          <a:xfrm>
            <a:off x="457200" y="2010139"/>
            <a:ext cx="7589520" cy="3752122"/>
          </a:xfrm>
          <a:prstGeom prst="rect">
            <a:avLst/>
          </a:prstGeom>
        </p:spPr>
      </p:pic>
      <p:sp>
        <p:nvSpPr>
          <p:cNvPr id="7" name="card"/>
          <p:cNvSpPr/>
          <p:nvPr/>
        </p:nvSpPr>
        <p:spPr>
          <a:xfrm>
            <a:off x="8366760" y="1783080"/>
            <a:ext cx="3367735" cy="1325880"/>
          </a:xfrm>
          <a:prstGeom prst="rect">
            <a:avLst/>
          </a:prstGeom>
          <a:solidFill>
            <a:srgbClr val="FFFFFF"/>
          </a:solidFill>
          <a:ln w="9525">
            <a:solidFill>
              <a:srgbClr val="E5E0D8"/>
            </a:solidFill>
            <a:prstDash val="solid"/>
          </a:ln>
        </p:spPr>
      </p:sp>
      <p:sp>
        <p:nvSpPr>
          <p:cNvPr id="8" name="Text 5"/>
          <p:cNvSpPr txBox="1"/>
          <p:nvPr/>
        </p:nvSpPr>
        <p:spPr>
          <a:xfrm>
            <a:off x="8595360" y="1892808"/>
            <a:ext cx="1188720" cy="548640"/>
          </a:xfrm>
          <a:prstGeom prst="rect">
            <a:avLst/>
          </a:prstGeom>
          <a:noFill/>
          <a:ln/>
        </p:spPr>
        <p:txBody>
          <a:bodyPr wrap="square" lIns="0" tIns="0" rIns="0" bIns="0" rtlCol="0" anchor="ctr"/>
          <a:lstStyle/>
          <a:p>
            <a:pPr indent="0" marL="0">
              <a:buNone/>
            </a:pPr>
            <a:r>
              <a:rPr lang="en-US" sz="2600" b="1" dirty="0">
                <a:solidFill>
                  <a:srgbClr val="1B4332"/>
                </a:solidFill>
                <a:latin typeface="Cambria" pitchFamily="34" charset="0"/>
                <a:ea typeface="Cambria" pitchFamily="34" charset="-122"/>
                <a:cs typeface="Cambria" pitchFamily="34" charset="-120"/>
              </a:rPr>
              <a:t>−0.30</a:t>
            </a:r>
            <a:endParaRPr lang="en-US" sz="2600" dirty="0"/>
          </a:p>
        </p:txBody>
      </p:sp>
      <p:sp>
        <p:nvSpPr>
          <p:cNvPr id="9" name="Text 6"/>
          <p:cNvSpPr txBox="1"/>
          <p:nvPr/>
        </p:nvSpPr>
        <p:spPr>
          <a:xfrm>
            <a:off x="9738360" y="1892808"/>
            <a:ext cx="1858975" cy="548640"/>
          </a:xfrm>
          <a:prstGeom prst="rect">
            <a:avLst/>
          </a:prstGeom>
          <a:noFill/>
          <a:ln/>
        </p:spPr>
        <p:txBody>
          <a:bodyPr wrap="square" lIns="0" tIns="0" rIns="0" bIns="0" rtlCol="0" anchor="ctr"/>
          <a:lstStyle/>
          <a:p>
            <a:pPr indent="0" marL="0">
              <a:buNone/>
            </a:pPr>
            <a:r>
              <a:rPr lang="en-US" sz="1500" b="1" dirty="0">
                <a:solidFill>
                  <a:srgbClr val="0F2A1D"/>
                </a:solidFill>
                <a:latin typeface="Calibri" pitchFamily="34" charset="0"/>
                <a:ea typeface="Calibri" pitchFamily="34" charset="-122"/>
                <a:cs typeface="Calibri" pitchFamily="34" charset="-120"/>
              </a:rPr>
              <a:t>Student-teacher ratio</a:t>
            </a:r>
            <a:endParaRPr lang="en-US" sz="1500" dirty="0"/>
          </a:p>
        </p:txBody>
      </p:sp>
      <p:sp>
        <p:nvSpPr>
          <p:cNvPr id="10" name="Text 7"/>
          <p:cNvSpPr txBox="1"/>
          <p:nvPr/>
        </p:nvSpPr>
        <p:spPr>
          <a:xfrm>
            <a:off x="8595360" y="2496312"/>
            <a:ext cx="2956255" cy="548640"/>
          </a:xfrm>
          <a:prstGeom prst="rect">
            <a:avLst/>
          </a:prstGeom>
          <a:noFill/>
          <a:ln/>
        </p:spPr>
        <p:txBody>
          <a:bodyPr wrap="square" lIns="0" tIns="0" rIns="0" bIns="0" rtlCol="0" anchor="t"/>
          <a:lstStyle/>
          <a:p>
            <a:pPr indent="0" marL="0">
              <a:buNone/>
            </a:pPr>
            <a:r>
              <a:rPr lang="en-US" sz="1250" dirty="0">
                <a:solidFill>
                  <a:srgbClr val="6B6B6B"/>
                </a:solidFill>
                <a:latin typeface="Calibri" pitchFamily="34" charset="0"/>
                <a:ea typeface="Calibri" pitchFamily="34" charset="-122"/>
                <a:cs typeface="Calibri" pitchFamily="34" charset="-120"/>
              </a:rPr>
              <a:t>Unchanged once qualified teachers and year are held constant (p &lt; 0.001)</a:t>
            </a:r>
            <a:endParaRPr lang="en-US" sz="1250" dirty="0"/>
          </a:p>
        </p:txBody>
      </p:sp>
      <p:sp>
        <p:nvSpPr>
          <p:cNvPr id="11" name="card"/>
          <p:cNvSpPr/>
          <p:nvPr/>
        </p:nvSpPr>
        <p:spPr>
          <a:xfrm>
            <a:off x="8366760" y="3246120"/>
            <a:ext cx="3367735" cy="1325880"/>
          </a:xfrm>
          <a:prstGeom prst="rect">
            <a:avLst/>
          </a:prstGeom>
          <a:solidFill>
            <a:srgbClr val="FFFFFF"/>
          </a:solidFill>
          <a:ln w="9525">
            <a:solidFill>
              <a:srgbClr val="E5E0D8"/>
            </a:solidFill>
            <a:prstDash val="solid"/>
          </a:ln>
        </p:spPr>
      </p:sp>
      <p:sp>
        <p:nvSpPr>
          <p:cNvPr id="12" name="Text 9"/>
          <p:cNvSpPr txBox="1"/>
          <p:nvPr/>
        </p:nvSpPr>
        <p:spPr>
          <a:xfrm>
            <a:off x="8595360" y="3355848"/>
            <a:ext cx="1188720" cy="548640"/>
          </a:xfrm>
          <a:prstGeom prst="rect">
            <a:avLst/>
          </a:prstGeom>
          <a:noFill/>
          <a:ln/>
        </p:spPr>
        <p:txBody>
          <a:bodyPr wrap="square" lIns="0" tIns="0" rIns="0" bIns="0" rtlCol="0" anchor="ctr"/>
          <a:lstStyle/>
          <a:p>
            <a:pPr indent="0" marL="0">
              <a:buNone/>
            </a:pPr>
            <a:r>
              <a:rPr lang="en-US" sz="2600" b="1" dirty="0">
                <a:solidFill>
                  <a:srgbClr val="1B4332"/>
                </a:solidFill>
                <a:latin typeface="Cambria" pitchFamily="34" charset="0"/>
                <a:ea typeface="Cambria" pitchFamily="34" charset="-122"/>
                <a:cs typeface="Cambria" pitchFamily="34" charset="-120"/>
              </a:rPr>
              <a:t>−0.23</a:t>
            </a:r>
            <a:endParaRPr lang="en-US" sz="2600" dirty="0"/>
          </a:p>
        </p:txBody>
      </p:sp>
      <p:sp>
        <p:nvSpPr>
          <p:cNvPr id="13" name="Text 10"/>
          <p:cNvSpPr txBox="1"/>
          <p:nvPr/>
        </p:nvSpPr>
        <p:spPr>
          <a:xfrm>
            <a:off x="9738360" y="3355848"/>
            <a:ext cx="1858975" cy="548640"/>
          </a:xfrm>
          <a:prstGeom prst="rect">
            <a:avLst/>
          </a:prstGeom>
          <a:noFill/>
          <a:ln/>
        </p:spPr>
        <p:txBody>
          <a:bodyPr wrap="square" lIns="0" tIns="0" rIns="0" bIns="0" rtlCol="0" anchor="ctr"/>
          <a:lstStyle/>
          <a:p>
            <a:pPr indent="0" marL="0">
              <a:buNone/>
            </a:pPr>
            <a:r>
              <a:rPr lang="en-US" sz="1500" b="1" dirty="0">
                <a:solidFill>
                  <a:srgbClr val="0F2A1D"/>
                </a:solidFill>
                <a:latin typeface="Calibri" pitchFamily="34" charset="0"/>
                <a:ea typeface="Calibri" pitchFamily="34" charset="-122"/>
                <a:cs typeface="Calibri" pitchFamily="34" charset="-120"/>
              </a:rPr>
              <a:t>Students per school</a:t>
            </a:r>
            <a:endParaRPr lang="en-US" sz="1500" dirty="0"/>
          </a:p>
        </p:txBody>
      </p:sp>
      <p:sp>
        <p:nvSpPr>
          <p:cNvPr id="14" name="Text 11"/>
          <p:cNvSpPr txBox="1"/>
          <p:nvPr/>
        </p:nvSpPr>
        <p:spPr>
          <a:xfrm>
            <a:off x="8595360" y="3959352"/>
            <a:ext cx="2956255" cy="548640"/>
          </a:xfrm>
          <a:prstGeom prst="rect">
            <a:avLst/>
          </a:prstGeom>
          <a:noFill/>
          <a:ln/>
        </p:spPr>
        <p:txBody>
          <a:bodyPr wrap="square" lIns="0" tIns="0" rIns="0" bIns="0" rtlCol="0" anchor="t"/>
          <a:lstStyle/>
          <a:p>
            <a:pPr indent="0" marL="0">
              <a:buNone/>
            </a:pPr>
            <a:r>
              <a:rPr lang="en-US" sz="1250" dirty="0">
                <a:solidFill>
                  <a:srgbClr val="6B6B6B"/>
                </a:solidFill>
                <a:latin typeface="Calibri" pitchFamily="34" charset="0"/>
                <a:ea typeface="Calibri" pitchFamily="34" charset="-122"/>
                <a:cs typeface="Calibri" pitchFamily="34" charset="-120"/>
              </a:rPr>
              <a:t>Weaker after controls (p = 0.059); 2016–2017 only</a:t>
            </a:r>
            <a:endParaRPr lang="en-US" sz="1250" dirty="0"/>
          </a:p>
        </p:txBody>
      </p:sp>
      <p:sp>
        <p:nvSpPr>
          <p:cNvPr id="15" name="card"/>
          <p:cNvSpPr/>
          <p:nvPr/>
        </p:nvSpPr>
        <p:spPr>
          <a:xfrm>
            <a:off x="8366760" y="4709160"/>
            <a:ext cx="3367735" cy="1325880"/>
          </a:xfrm>
          <a:prstGeom prst="rect">
            <a:avLst/>
          </a:prstGeom>
          <a:solidFill>
            <a:srgbClr val="FFFFFF"/>
          </a:solidFill>
          <a:ln w="9525">
            <a:solidFill>
              <a:srgbClr val="E5E0D8"/>
            </a:solidFill>
            <a:prstDash val="solid"/>
          </a:ln>
        </p:spPr>
      </p:sp>
      <p:sp>
        <p:nvSpPr>
          <p:cNvPr id="16" name="Text 13"/>
          <p:cNvSpPr txBox="1"/>
          <p:nvPr/>
        </p:nvSpPr>
        <p:spPr>
          <a:xfrm>
            <a:off x="8595360" y="4818888"/>
            <a:ext cx="1188720" cy="548640"/>
          </a:xfrm>
          <a:prstGeom prst="rect">
            <a:avLst/>
          </a:prstGeom>
          <a:noFill/>
          <a:ln/>
        </p:spPr>
        <p:txBody>
          <a:bodyPr wrap="square" lIns="0" tIns="0" rIns="0" bIns="0" rtlCol="0" anchor="ctr"/>
          <a:lstStyle/>
          <a:p>
            <a:pPr indent="0" marL="0">
              <a:buNone/>
            </a:pPr>
            <a:r>
              <a:rPr lang="en-US" sz="2600" b="1" dirty="0">
                <a:solidFill>
                  <a:srgbClr val="6B6B6B"/>
                </a:solidFill>
                <a:latin typeface="Cambria" pitchFamily="34" charset="0"/>
                <a:ea typeface="Cambria" pitchFamily="34" charset="-122"/>
                <a:cs typeface="Cambria" pitchFamily="34" charset="-120"/>
              </a:rPr>
              <a:t>≈ 0</a:t>
            </a:r>
            <a:endParaRPr lang="en-US" sz="2600" dirty="0"/>
          </a:p>
        </p:txBody>
      </p:sp>
      <p:sp>
        <p:nvSpPr>
          <p:cNvPr id="17" name="Text 14"/>
          <p:cNvSpPr txBox="1"/>
          <p:nvPr/>
        </p:nvSpPr>
        <p:spPr>
          <a:xfrm>
            <a:off x="9738360" y="4818888"/>
            <a:ext cx="1858975" cy="548640"/>
          </a:xfrm>
          <a:prstGeom prst="rect">
            <a:avLst/>
          </a:prstGeom>
          <a:noFill/>
          <a:ln/>
        </p:spPr>
        <p:txBody>
          <a:bodyPr wrap="square" lIns="0" tIns="0" rIns="0" bIns="0" rtlCol="0" anchor="ctr"/>
          <a:lstStyle/>
          <a:p>
            <a:pPr indent="0" marL="0">
              <a:buNone/>
            </a:pPr>
            <a:r>
              <a:rPr lang="en-US" sz="1500" b="1" dirty="0">
                <a:solidFill>
                  <a:srgbClr val="0F2A1D"/>
                </a:solidFill>
                <a:latin typeface="Calibri" pitchFamily="34" charset="0"/>
                <a:ea typeface="Calibri" pitchFamily="34" charset="-122"/>
                <a:cs typeface="Calibri" pitchFamily="34" charset="-120"/>
              </a:rPr>
              <a:t>Classrooms &amp; toilets</a:t>
            </a:r>
            <a:endParaRPr lang="en-US" sz="1500" dirty="0"/>
          </a:p>
        </p:txBody>
      </p:sp>
      <p:sp>
        <p:nvSpPr>
          <p:cNvPr id="18" name="Text 15"/>
          <p:cNvSpPr txBox="1"/>
          <p:nvPr/>
        </p:nvSpPr>
        <p:spPr>
          <a:xfrm>
            <a:off x="8595360" y="5422392"/>
            <a:ext cx="2956255" cy="548640"/>
          </a:xfrm>
          <a:prstGeom prst="rect">
            <a:avLst/>
          </a:prstGeom>
          <a:noFill/>
          <a:ln/>
        </p:spPr>
        <p:txBody>
          <a:bodyPr wrap="square" lIns="0" tIns="0" rIns="0" bIns="0" rtlCol="0" anchor="t"/>
          <a:lstStyle/>
          <a:p>
            <a:pPr indent="0" marL="0">
              <a:buNone/>
            </a:pPr>
            <a:r>
              <a:rPr lang="en-US" sz="1250" dirty="0">
                <a:solidFill>
                  <a:srgbClr val="6B6B6B"/>
                </a:solidFill>
                <a:latin typeface="Calibri" pitchFamily="34" charset="0"/>
                <a:ea typeface="Calibri" pitchFamily="34" charset="-122"/>
                <a:cs typeface="Calibri" pitchFamily="34" charset="-120"/>
              </a:rPr>
              <a:t>Partial ρ 0.05 and −0.00: no association</a:t>
            </a:r>
            <a:endParaRPr lang="en-US" sz="1250" dirty="0"/>
          </a:p>
        </p:txBody>
      </p:sp>
      <p:sp>
        <p:nvSpPr>
          <p:cNvPr id="25" name="Slide Number Placeholder 0"/>
          <p:cNvSpPr>
            <a:spLocks noGrp="1"/>
          </p:cNvSpPr>
          <p:nvPr>
            <p:ph type="sldNum" sz="quarter" idx="4294967295"/>
          </p:nvPr>
        </p:nvSpPr>
        <p:spPr>
          <a:xfrm>
            <a:off x="11277295" y="6510528"/>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pill"/>
          <p:cNvSpPr/>
          <p:nvPr/>
        </p:nvSpPr>
        <p:spPr>
          <a:xfrm>
            <a:off x="457200" y="411480"/>
            <a:ext cx="2194560" cy="347472"/>
          </a:xfrm>
          <a:prstGeom prst="roundRect">
            <a:avLst>
              <a:gd name="adj" fmla="val 50000"/>
            </a:avLst>
          </a:prstGeom>
          <a:solidFill>
            <a:srgbClr val="D4A373"/>
          </a:solidFill>
          <a:ln w="12700">
            <a:solidFill>
              <a:srgbClr val="D4A373"/>
            </a:solidFill>
            <a:prstDash val="solid"/>
          </a:ln>
        </p:spPr>
      </p:sp>
      <p:sp>
        <p:nvSpPr>
          <p:cNvPr id="3" name="Text 1"/>
          <p:cNvSpPr txBox="1"/>
          <p:nvPr/>
        </p:nvSpPr>
        <p:spPr>
          <a:xfrm>
            <a:off x="457200" y="411480"/>
            <a:ext cx="2194560" cy="347472"/>
          </a:xfrm>
          <a:prstGeom prst="rect">
            <a:avLst/>
          </a:prstGeom>
          <a:noFill/>
          <a:ln/>
        </p:spPr>
        <p:txBody>
          <a:bodyPr wrap="square" lIns="0" tIns="0" rIns="0" bIns="0" rtlCol="0" anchor="ctr"/>
          <a:lstStyle/>
          <a:p>
            <a:pPr algn="ctr" indent="0" marL="0">
              <a:buNone/>
            </a:pPr>
            <a:r>
              <a:rPr lang="en-US" sz="1100" b="1" spc="150" kern="0" dirty="0">
                <a:solidFill>
                  <a:srgbClr val="0F2A1D"/>
                </a:solidFill>
                <a:latin typeface="Calibri" pitchFamily="34" charset="0"/>
                <a:ea typeface="Calibri" pitchFamily="34" charset="-122"/>
                <a:cs typeface="Calibri" pitchFamily="34" charset="-120"/>
              </a:rPr>
              <a:t>VISUALIZATION &amp; ANALYSIS</a:t>
            </a:r>
            <a:endParaRPr lang="en-US" sz="1100" dirty="0"/>
          </a:p>
        </p:txBody>
      </p:sp>
      <p:sp>
        <p:nvSpPr>
          <p:cNvPr id="4" name="Text 0"/>
          <p:cNvSpPr/>
          <p:nvPr>
            <p:ph idx="100" type="title" hasCustomPrompt="1"/>
          </p:nvPr>
        </p:nvSpPr>
        <p:spPr>
          <a:xfrm>
            <a:off x="457200" y="914400"/>
            <a:ext cx="11277295" cy="731520"/>
          </a:xfrm>
          <a:prstGeom prst="rect">
            <a:avLst/>
          </a:prstGeom>
          <a:noFill/>
          <a:ln/>
        </p:spPr>
        <p:txBody>
          <a:bodyPr wrap="square" lIns="0" tIns="0" rIns="0" bIns="0" rtlCol="0" anchor="ctr"/>
          <a:lstStyle/>
          <a:p>
            <a:pPr algn="l" indent="0" marL="0">
              <a:buNone/>
            </a:pPr>
            <a:r>
              <a:rPr lang="en-US" sz="3400" b="1" dirty="0">
                <a:solidFill>
                  <a:srgbClr val="0F2A1D"/>
                </a:solidFill>
                <a:latin typeface="Cambria" pitchFamily="34" charset="0"/>
                <a:ea typeface="Cambria" pitchFamily="34" charset="-122"/>
                <a:cs typeface="Cambria" pitchFamily="34" charset="-120"/>
              </a:rPr>
              <a:t>Partial Correlations by Sector</a:t>
            </a:r>
            <a:endParaRPr lang="en-US" sz="3400" dirty="0"/>
          </a:p>
        </p:txBody>
      </p:sp>
      <p:sp>
        <p:nvSpPr>
          <p:cNvPr id="5" name="image frame"/>
          <p:cNvSpPr/>
          <p:nvPr/>
        </p:nvSpPr>
        <p:spPr>
          <a:xfrm>
            <a:off x="411480" y="1652341"/>
            <a:ext cx="7680960" cy="4696317"/>
          </a:xfrm>
          <a:prstGeom prst="rect">
            <a:avLst/>
          </a:prstGeom>
          <a:solidFill>
            <a:srgbClr val="FFFFFF"/>
          </a:solidFill>
          <a:ln w="12700">
            <a:solidFill>
              <a:srgbClr val="FFFFFF"/>
            </a:solidFill>
            <a:prstDash val="solid"/>
          </a:ln>
        </p:spPr>
      </p:sp>
      <p:pic>
        <p:nvPicPr>
          <p:cNvPr id="6" name="Image 0" descr="img_408.png">    </p:cNvPr>
          <p:cNvPicPr>
            <a:picLocks noChangeAspect="1"/>
          </p:cNvPicPr>
          <p:nvPr/>
        </p:nvPicPr>
        <p:blipFill>
          <a:blip r:embed="rId1"/>
          <a:stretch>
            <a:fillRect/>
          </a:stretch>
        </p:blipFill>
        <p:spPr>
          <a:xfrm>
            <a:off x="457200" y="1698061"/>
            <a:ext cx="7589520" cy="4604877"/>
          </a:xfrm>
          <a:prstGeom prst="rect">
            <a:avLst/>
          </a:prstGeom>
        </p:spPr>
      </p:pic>
      <p:sp>
        <p:nvSpPr>
          <p:cNvPr id="7" name="card"/>
          <p:cNvSpPr/>
          <p:nvPr/>
        </p:nvSpPr>
        <p:spPr>
          <a:xfrm>
            <a:off x="8366760" y="1783080"/>
            <a:ext cx="3367735" cy="4343400"/>
          </a:xfrm>
          <a:prstGeom prst="rect">
            <a:avLst/>
          </a:prstGeom>
          <a:solidFill>
            <a:srgbClr val="1B4332"/>
          </a:solidFill>
          <a:ln w="9525">
            <a:solidFill>
              <a:srgbClr val="1B4332"/>
            </a:solidFill>
            <a:prstDash val="solid"/>
          </a:ln>
        </p:spPr>
      </p:sp>
      <p:sp>
        <p:nvSpPr>
          <p:cNvPr id="8" name="Text 5"/>
          <p:cNvSpPr txBox="1"/>
          <p:nvPr/>
        </p:nvSpPr>
        <p:spPr>
          <a:xfrm>
            <a:off x="8641080" y="1965960"/>
            <a:ext cx="2819095" cy="36576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How to read it</a:t>
            </a:r>
            <a:endParaRPr lang="en-US" sz="1800" dirty="0"/>
          </a:p>
        </p:txBody>
      </p:sp>
      <p:sp>
        <p:nvSpPr>
          <p:cNvPr id="9" name="Text 6"/>
          <p:cNvSpPr txBox="1"/>
          <p:nvPr/>
        </p:nvSpPr>
        <p:spPr>
          <a:xfrm>
            <a:off x="8641080" y="2468880"/>
            <a:ext cx="2819095" cy="35204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Each dot is a Spearman partial correlation; the line is its 95% confidence interval.</a:t>
            </a:r>
            <a:endParaRPr lang="en-US" sz="1350" dirty="0"/>
          </a:p>
          <a:p>
            <a:pPr marL="342900" indent="-3429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Lines crossing zero: no association once the other resources are held constant.</a:t>
            </a:r>
            <a:endParaRPr lang="en-US" sz="1350" dirty="0"/>
          </a:p>
          <a:p>
            <a:pPr marL="342900" indent="-3429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Public student-teacher ratio stays clearly negative in sets A and B (−0.30, −0.28).</a:t>
            </a:r>
            <a:endParaRPr lang="en-US" sz="1350" dirty="0"/>
          </a:p>
          <a:p>
            <a:pPr marL="342900" indent="-3429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Qualified teachers turn weakly positive in 2019–2021 (0.16–0.18).</a:t>
            </a:r>
            <a:endParaRPr lang="en-US" sz="1350" dirty="0"/>
          </a:p>
          <a:p>
            <a:pPr marL="342900" indent="-342900">
              <a:spcAft>
                <a:spcPts val="800"/>
              </a:spcAft>
              <a:buSzPct val="100000"/>
              <a:buChar char="•"/>
            </a:pPr>
            <a:r>
              <a:rPr lang="en-US" sz="1350" dirty="0">
                <a:solidFill>
                  <a:srgbClr val="FFFFFF"/>
                </a:solidFill>
                <a:latin typeface="Calibri" pitchFamily="34" charset="0"/>
                <a:ea typeface="Calibri" pitchFamily="34" charset="-122"/>
                <a:cs typeface="Calibri" pitchFamily="34" charset="-120"/>
              </a:rPr>
              <a:t>Private schools: nothing significant (all p &gt; 0.14).</a:t>
            </a:r>
            <a:endParaRPr lang="en-US" sz="1350" dirty="0"/>
          </a:p>
        </p:txBody>
      </p:sp>
      <p:sp>
        <p:nvSpPr>
          <p:cNvPr id="25" name="Slide Number Placeholder 0"/>
          <p:cNvSpPr>
            <a:spLocks noGrp="1"/>
          </p:cNvSpPr>
          <p:nvPr>
            <p:ph type="sldNum" sz="quarter" idx="4294967295"/>
          </p:nvPr>
        </p:nvSpPr>
        <p:spPr>
          <a:xfrm>
            <a:off x="11277295" y="6510528"/>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pill"/>
          <p:cNvSpPr/>
          <p:nvPr/>
        </p:nvSpPr>
        <p:spPr>
          <a:xfrm>
            <a:off x="457200" y="411480"/>
            <a:ext cx="2194560" cy="347472"/>
          </a:xfrm>
          <a:prstGeom prst="roundRect">
            <a:avLst>
              <a:gd name="adj" fmla="val 50000"/>
            </a:avLst>
          </a:prstGeom>
          <a:solidFill>
            <a:srgbClr val="D4A373"/>
          </a:solidFill>
          <a:ln w="12700">
            <a:solidFill>
              <a:srgbClr val="D4A373"/>
            </a:solidFill>
            <a:prstDash val="solid"/>
          </a:ln>
        </p:spPr>
      </p:sp>
      <p:sp>
        <p:nvSpPr>
          <p:cNvPr id="3" name="Text 1"/>
          <p:cNvSpPr txBox="1"/>
          <p:nvPr/>
        </p:nvSpPr>
        <p:spPr>
          <a:xfrm>
            <a:off x="457200" y="411480"/>
            <a:ext cx="2194560" cy="347472"/>
          </a:xfrm>
          <a:prstGeom prst="rect">
            <a:avLst/>
          </a:prstGeom>
          <a:noFill/>
          <a:ln/>
        </p:spPr>
        <p:txBody>
          <a:bodyPr wrap="square" lIns="0" tIns="0" rIns="0" bIns="0" rtlCol="0" anchor="ctr"/>
          <a:lstStyle/>
          <a:p>
            <a:pPr algn="ctr" indent="0" marL="0">
              <a:buNone/>
            </a:pPr>
            <a:r>
              <a:rPr lang="en-US" sz="1100" b="1" spc="150" kern="0" dirty="0">
                <a:solidFill>
                  <a:srgbClr val="0F2A1D"/>
                </a:solidFill>
                <a:latin typeface="Calibri" pitchFamily="34" charset="0"/>
                <a:ea typeface="Calibri" pitchFamily="34" charset="-122"/>
                <a:cs typeface="Calibri" pitchFamily="34" charset="-120"/>
              </a:rPr>
              <a:t>CONCLUSION</a:t>
            </a:r>
            <a:endParaRPr lang="en-US" sz="1100" dirty="0"/>
          </a:p>
        </p:txBody>
      </p:sp>
      <p:sp>
        <p:nvSpPr>
          <p:cNvPr id="4" name="Text 0"/>
          <p:cNvSpPr/>
          <p:nvPr>
            <p:ph idx="100" type="title" hasCustomPrompt="1"/>
          </p:nvPr>
        </p:nvSpPr>
        <p:spPr>
          <a:xfrm>
            <a:off x="457200" y="914400"/>
            <a:ext cx="11277295" cy="731520"/>
          </a:xfrm>
          <a:prstGeom prst="rect">
            <a:avLst/>
          </a:prstGeom>
          <a:noFill/>
          <a:ln/>
        </p:spPr>
        <p:txBody>
          <a:bodyPr wrap="square" lIns="0" tIns="0" rIns="0" bIns="0" rtlCol="0" anchor="ctr"/>
          <a:lstStyle/>
          <a:p>
            <a:pPr algn="l" indent="0" marL="0">
              <a:buNone/>
            </a:pPr>
            <a:r>
              <a:rPr lang="en-US" sz="3400" b="1" dirty="0">
                <a:solidFill>
                  <a:srgbClr val="0F2A1D"/>
                </a:solidFill>
                <a:latin typeface="Cambria" pitchFamily="34" charset="0"/>
                <a:ea typeface="Cambria" pitchFamily="34" charset="-122"/>
                <a:cs typeface="Cambria" pitchFamily="34" charset="-120"/>
              </a:rPr>
              <a:t>Conclusion</a:t>
            </a:r>
            <a:endParaRPr lang="en-US" sz="3400" dirty="0"/>
          </a:p>
        </p:txBody>
      </p:sp>
      <p:sp>
        <p:nvSpPr>
          <p:cNvPr id="5" name="number"/>
          <p:cNvSpPr/>
          <p:nvPr/>
        </p:nvSpPr>
        <p:spPr>
          <a:xfrm>
            <a:off x="457200" y="1783080"/>
            <a:ext cx="502920" cy="502920"/>
          </a:xfrm>
          <a:prstGeom prst="roundRect">
            <a:avLst>
              <a:gd name="adj" fmla="val 10909"/>
            </a:avLst>
          </a:prstGeom>
          <a:solidFill>
            <a:srgbClr val="1B4332"/>
          </a:solidFill>
          <a:ln w="12700">
            <a:solidFill>
              <a:srgbClr val="1B4332"/>
            </a:solidFill>
            <a:prstDash val="solid"/>
          </a:ln>
        </p:spPr>
      </p:sp>
      <p:sp>
        <p:nvSpPr>
          <p:cNvPr id="6" name="Text 4"/>
          <p:cNvSpPr txBox="1"/>
          <p:nvPr/>
        </p:nvSpPr>
        <p:spPr>
          <a:xfrm>
            <a:off x="457200" y="17830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143000" y="1709928"/>
            <a:ext cx="10607040" cy="658368"/>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Student-teacher ratio is most consistently linked to student outcomes, and stays linked when the other resources are held constant (partial ρ = −0.30 in public schools). Lower ratios yield higher results. Considering the available data, this should be the primary resource to improve on.</a:t>
            </a:r>
            <a:endParaRPr lang="en-US" sz="1500" dirty="0"/>
          </a:p>
        </p:txBody>
      </p:sp>
      <p:sp>
        <p:nvSpPr>
          <p:cNvPr id="8" name="number"/>
          <p:cNvSpPr/>
          <p:nvPr/>
        </p:nvSpPr>
        <p:spPr>
          <a:xfrm>
            <a:off x="457200" y="2715768"/>
            <a:ext cx="502920" cy="502920"/>
          </a:xfrm>
          <a:prstGeom prst="roundRect">
            <a:avLst>
              <a:gd name="adj" fmla="val 10909"/>
            </a:avLst>
          </a:prstGeom>
          <a:solidFill>
            <a:srgbClr val="D4A373"/>
          </a:solidFill>
          <a:ln w="12700">
            <a:solidFill>
              <a:srgbClr val="D4A373"/>
            </a:solidFill>
            <a:prstDash val="solid"/>
          </a:ln>
        </p:spPr>
      </p:sp>
      <p:sp>
        <p:nvSpPr>
          <p:cNvPr id="9" name="Text 7"/>
          <p:cNvSpPr txBox="1"/>
          <p:nvPr/>
        </p:nvSpPr>
        <p:spPr>
          <a:xfrm>
            <a:off x="457200" y="271576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1143000" y="2642616"/>
            <a:ext cx="10607040" cy="658368"/>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Qualified teacher percentage is also linked to student outcomes, but weakly (partial ρ = 0.16–0.18, 2019–2021 only). Higher percentages yield higher results. Considering the data, this should be a secondary resource to improve on.</a:t>
            </a:r>
            <a:endParaRPr lang="en-US" sz="1500" dirty="0"/>
          </a:p>
        </p:txBody>
      </p:sp>
      <p:sp>
        <p:nvSpPr>
          <p:cNvPr id="11" name="number"/>
          <p:cNvSpPr/>
          <p:nvPr/>
        </p:nvSpPr>
        <p:spPr>
          <a:xfrm>
            <a:off x="457200" y="3648456"/>
            <a:ext cx="502920" cy="502920"/>
          </a:xfrm>
          <a:prstGeom prst="roundRect">
            <a:avLst>
              <a:gd name="adj" fmla="val 10909"/>
            </a:avLst>
          </a:prstGeom>
          <a:solidFill>
            <a:srgbClr val="1B4332"/>
          </a:solidFill>
          <a:ln w="12700">
            <a:solidFill>
              <a:srgbClr val="1B4332"/>
            </a:solidFill>
            <a:prstDash val="solid"/>
          </a:ln>
        </p:spPr>
      </p:sp>
      <p:sp>
        <p:nvSpPr>
          <p:cNvPr id="12" name="Text 10"/>
          <p:cNvSpPr txBox="1"/>
          <p:nvPr/>
        </p:nvSpPr>
        <p:spPr>
          <a:xfrm>
            <a:off x="457200" y="3648456"/>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1"/>
          <p:cNvSpPr txBox="1"/>
          <p:nvPr/>
        </p:nvSpPr>
        <p:spPr>
          <a:xfrm>
            <a:off x="1143000" y="3575304"/>
            <a:ext cx="10607040" cy="658368"/>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Classroom conditions and toilet availability have no reliable association when the other resources, sector and year are controlled for.</a:t>
            </a:r>
            <a:endParaRPr lang="en-US" sz="1500" dirty="0"/>
          </a:p>
        </p:txBody>
      </p:sp>
      <p:sp>
        <p:nvSpPr>
          <p:cNvPr id="14" name="number"/>
          <p:cNvSpPr/>
          <p:nvPr/>
        </p:nvSpPr>
        <p:spPr>
          <a:xfrm>
            <a:off x="457200" y="4581144"/>
            <a:ext cx="502920" cy="502920"/>
          </a:xfrm>
          <a:prstGeom prst="roundRect">
            <a:avLst>
              <a:gd name="adj" fmla="val 10909"/>
            </a:avLst>
          </a:prstGeom>
          <a:solidFill>
            <a:srgbClr val="D4A373"/>
          </a:solidFill>
          <a:ln w="12700">
            <a:solidFill>
              <a:srgbClr val="D4A373"/>
            </a:solidFill>
            <a:prstDash val="solid"/>
          </a:ln>
        </p:spPr>
      </p:sp>
      <p:sp>
        <p:nvSpPr>
          <p:cNvPr id="15" name="Text 13"/>
          <p:cNvSpPr txBox="1"/>
          <p:nvPr/>
        </p:nvSpPr>
        <p:spPr>
          <a:xfrm>
            <a:off x="457200" y="458114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4"/>
          <p:cNvSpPr txBox="1"/>
          <p:nvPr/>
        </p:nvSpPr>
        <p:spPr>
          <a:xfrm>
            <a:off x="1143000" y="4507992"/>
            <a:ext cx="10607040" cy="658368"/>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School size had the highest correlation and stays linked after controls (partial ρ = −0.29), but only two years of data are available.</a:t>
            </a:r>
            <a:endParaRPr lang="en-US" sz="1500" dirty="0"/>
          </a:p>
        </p:txBody>
      </p:sp>
      <p:sp>
        <p:nvSpPr>
          <p:cNvPr id="17" name="number"/>
          <p:cNvSpPr/>
          <p:nvPr/>
        </p:nvSpPr>
        <p:spPr>
          <a:xfrm>
            <a:off x="457200" y="5513832"/>
            <a:ext cx="502920" cy="502920"/>
          </a:xfrm>
          <a:prstGeom prst="roundRect">
            <a:avLst>
              <a:gd name="adj" fmla="val 10909"/>
            </a:avLst>
          </a:prstGeom>
          <a:solidFill>
            <a:srgbClr val="1B4332"/>
          </a:solidFill>
          <a:ln w="12700">
            <a:solidFill>
              <a:srgbClr val="1B4332"/>
            </a:solidFill>
            <a:prstDash val="solid"/>
          </a:ln>
        </p:spPr>
      </p:sp>
      <p:sp>
        <p:nvSpPr>
          <p:cNvPr id="18" name="Text 16"/>
          <p:cNvSpPr txBox="1"/>
          <p:nvPr/>
        </p:nvSpPr>
        <p:spPr>
          <a:xfrm>
            <a:off x="457200" y="551383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19" name="Text 17"/>
          <p:cNvSpPr txBox="1"/>
          <p:nvPr/>
        </p:nvSpPr>
        <p:spPr>
          <a:xfrm>
            <a:off x="1143000" y="5440680"/>
            <a:ext cx="10607040" cy="658368"/>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Private-sector results jump wasn't reliable. Likely driven by a reporting shift between 2018 and 2019.</a:t>
            </a:r>
            <a:endParaRPr lang="en-US" sz="1500" dirty="0"/>
          </a:p>
        </p:txBody>
      </p:sp>
      <p:sp>
        <p:nvSpPr>
          <p:cNvPr id="25" name="Slide Number Placeholder 0"/>
          <p:cNvSpPr>
            <a:spLocks noGrp="1"/>
          </p:cNvSpPr>
          <p:nvPr>
            <p:ph type="sldNum" sz="quarter" idx="4294967295"/>
          </p:nvPr>
        </p:nvSpPr>
        <p:spPr>
          <a:xfrm>
            <a:off x="11277295" y="6510528"/>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pill"/>
          <p:cNvSpPr/>
          <p:nvPr/>
        </p:nvSpPr>
        <p:spPr>
          <a:xfrm>
            <a:off x="457200" y="411480"/>
            <a:ext cx="2194560" cy="347472"/>
          </a:xfrm>
          <a:prstGeom prst="roundRect">
            <a:avLst>
              <a:gd name="adj" fmla="val 50000"/>
            </a:avLst>
          </a:prstGeom>
          <a:solidFill>
            <a:srgbClr val="D4A373"/>
          </a:solidFill>
          <a:ln w="12700">
            <a:solidFill>
              <a:srgbClr val="D4A373"/>
            </a:solidFill>
            <a:prstDash val="solid"/>
          </a:ln>
        </p:spPr>
      </p:sp>
      <p:sp>
        <p:nvSpPr>
          <p:cNvPr id="3" name="Text 1"/>
          <p:cNvSpPr txBox="1"/>
          <p:nvPr/>
        </p:nvSpPr>
        <p:spPr>
          <a:xfrm>
            <a:off x="457200" y="411480"/>
            <a:ext cx="2194560" cy="347472"/>
          </a:xfrm>
          <a:prstGeom prst="rect">
            <a:avLst/>
          </a:prstGeom>
          <a:noFill/>
          <a:ln/>
        </p:spPr>
        <p:txBody>
          <a:bodyPr wrap="square" lIns="0" tIns="0" rIns="0" bIns="0" rtlCol="0" anchor="ctr"/>
          <a:lstStyle/>
          <a:p>
            <a:pPr algn="ctr" indent="0" marL="0">
              <a:buNone/>
            </a:pPr>
            <a:r>
              <a:rPr lang="en-US" sz="1100" b="1" spc="150" kern="0" dirty="0">
                <a:solidFill>
                  <a:srgbClr val="0F2A1D"/>
                </a:solidFill>
                <a:latin typeface="Calibri" pitchFamily="34" charset="0"/>
                <a:ea typeface="Calibri" pitchFamily="34" charset="-122"/>
                <a:cs typeface="Calibri" pitchFamily="34" charset="-120"/>
              </a:rPr>
              <a:t>RECOMMENDATIONS</a:t>
            </a:r>
            <a:endParaRPr lang="en-US" sz="1100" dirty="0"/>
          </a:p>
        </p:txBody>
      </p:sp>
      <p:sp>
        <p:nvSpPr>
          <p:cNvPr id="4" name="Text 0"/>
          <p:cNvSpPr/>
          <p:nvPr>
            <p:ph idx="100" type="title" hasCustomPrompt="1"/>
          </p:nvPr>
        </p:nvSpPr>
        <p:spPr>
          <a:xfrm>
            <a:off x="457200" y="914400"/>
            <a:ext cx="11277295" cy="731520"/>
          </a:xfrm>
          <a:prstGeom prst="rect">
            <a:avLst/>
          </a:prstGeom>
          <a:noFill/>
          <a:ln/>
        </p:spPr>
        <p:txBody>
          <a:bodyPr wrap="square" lIns="0" tIns="0" rIns="0" bIns="0" rtlCol="0" anchor="ctr"/>
          <a:lstStyle/>
          <a:p>
            <a:pPr algn="l" indent="0" marL="0">
              <a:buNone/>
            </a:pPr>
            <a:r>
              <a:rPr lang="en-US" sz="3400" b="1" dirty="0">
                <a:solidFill>
                  <a:srgbClr val="0F2A1D"/>
                </a:solidFill>
                <a:latin typeface="Cambria" pitchFamily="34" charset="0"/>
                <a:ea typeface="Cambria" pitchFamily="34" charset="-122"/>
                <a:cs typeface="Cambria" pitchFamily="34" charset="-120"/>
              </a:rPr>
              <a:t>Recommendations</a:t>
            </a:r>
            <a:endParaRPr lang="en-US" sz="3400" dirty="0"/>
          </a:p>
        </p:txBody>
      </p:sp>
      <p:sp>
        <p:nvSpPr>
          <p:cNvPr id="5" name="number"/>
          <p:cNvSpPr/>
          <p:nvPr/>
        </p:nvSpPr>
        <p:spPr>
          <a:xfrm>
            <a:off x="457200" y="1783080"/>
            <a:ext cx="502920" cy="502920"/>
          </a:xfrm>
          <a:prstGeom prst="roundRect">
            <a:avLst>
              <a:gd name="adj" fmla="val 10909"/>
            </a:avLst>
          </a:prstGeom>
          <a:solidFill>
            <a:srgbClr val="1B4332"/>
          </a:solidFill>
          <a:ln w="12700">
            <a:solidFill>
              <a:srgbClr val="1B4332"/>
            </a:solidFill>
            <a:prstDash val="solid"/>
          </a:ln>
        </p:spPr>
      </p:sp>
      <p:sp>
        <p:nvSpPr>
          <p:cNvPr id="6" name="Text 4"/>
          <p:cNvSpPr txBox="1"/>
          <p:nvPr/>
        </p:nvSpPr>
        <p:spPr>
          <a:xfrm>
            <a:off x="457200" y="178308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143000" y="1709928"/>
            <a:ext cx="10607040" cy="658368"/>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Collect more extensive data on school size.</a:t>
            </a:r>
            <a:endParaRPr lang="en-US" sz="1500" dirty="0"/>
          </a:p>
        </p:txBody>
      </p:sp>
      <p:sp>
        <p:nvSpPr>
          <p:cNvPr id="8" name="number"/>
          <p:cNvSpPr/>
          <p:nvPr/>
        </p:nvSpPr>
        <p:spPr>
          <a:xfrm>
            <a:off x="457200" y="2715768"/>
            <a:ext cx="502920" cy="502920"/>
          </a:xfrm>
          <a:prstGeom prst="roundRect">
            <a:avLst>
              <a:gd name="adj" fmla="val 10909"/>
            </a:avLst>
          </a:prstGeom>
          <a:solidFill>
            <a:srgbClr val="D4A373"/>
          </a:solidFill>
          <a:ln w="12700">
            <a:solidFill>
              <a:srgbClr val="D4A373"/>
            </a:solidFill>
            <a:prstDash val="solid"/>
          </a:ln>
        </p:spPr>
      </p:sp>
      <p:sp>
        <p:nvSpPr>
          <p:cNvPr id="9" name="Text 7"/>
          <p:cNvSpPr txBox="1"/>
          <p:nvPr/>
        </p:nvSpPr>
        <p:spPr>
          <a:xfrm>
            <a:off x="457200" y="271576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txBox="1"/>
          <p:nvPr/>
        </p:nvSpPr>
        <p:spPr>
          <a:xfrm>
            <a:off x="1143000" y="2642616"/>
            <a:ext cx="10607040" cy="658368"/>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Understand and account for what factor caused the 2018-2019 private school result change.</a:t>
            </a:r>
            <a:endParaRPr lang="en-US" sz="1500" dirty="0"/>
          </a:p>
        </p:txBody>
      </p:sp>
      <p:sp>
        <p:nvSpPr>
          <p:cNvPr id="11" name="number"/>
          <p:cNvSpPr/>
          <p:nvPr/>
        </p:nvSpPr>
        <p:spPr>
          <a:xfrm>
            <a:off x="457200" y="3648456"/>
            <a:ext cx="502920" cy="502920"/>
          </a:xfrm>
          <a:prstGeom prst="roundRect">
            <a:avLst>
              <a:gd name="adj" fmla="val 10909"/>
            </a:avLst>
          </a:prstGeom>
          <a:solidFill>
            <a:srgbClr val="1B4332"/>
          </a:solidFill>
          <a:ln w="12700">
            <a:solidFill>
              <a:srgbClr val="1B4332"/>
            </a:solidFill>
            <a:prstDash val="solid"/>
          </a:ln>
        </p:spPr>
      </p:sp>
      <p:sp>
        <p:nvSpPr>
          <p:cNvPr id="12" name="Text 10"/>
          <p:cNvSpPr txBox="1"/>
          <p:nvPr/>
        </p:nvSpPr>
        <p:spPr>
          <a:xfrm>
            <a:off x="457200" y="3648456"/>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3" name="Text 11"/>
          <p:cNvSpPr txBox="1"/>
          <p:nvPr/>
        </p:nvSpPr>
        <p:spPr>
          <a:xfrm>
            <a:off x="1143000" y="3575304"/>
            <a:ext cx="10607040" cy="658368"/>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Extend the panel to future years.</a:t>
            </a:r>
            <a:endParaRPr lang="en-US" sz="1500" dirty="0"/>
          </a:p>
        </p:txBody>
      </p:sp>
      <p:sp>
        <p:nvSpPr>
          <p:cNvPr id="14" name="number"/>
          <p:cNvSpPr/>
          <p:nvPr/>
        </p:nvSpPr>
        <p:spPr>
          <a:xfrm>
            <a:off x="457200" y="4581144"/>
            <a:ext cx="502920" cy="502920"/>
          </a:xfrm>
          <a:prstGeom prst="roundRect">
            <a:avLst>
              <a:gd name="adj" fmla="val 10909"/>
            </a:avLst>
          </a:prstGeom>
          <a:solidFill>
            <a:srgbClr val="D4A373"/>
          </a:solidFill>
          <a:ln w="12700">
            <a:solidFill>
              <a:srgbClr val="D4A373"/>
            </a:solidFill>
            <a:prstDash val="solid"/>
          </a:ln>
        </p:spPr>
      </p:sp>
      <p:sp>
        <p:nvSpPr>
          <p:cNvPr id="15" name="Text 13"/>
          <p:cNvSpPr txBox="1"/>
          <p:nvPr/>
        </p:nvSpPr>
        <p:spPr>
          <a:xfrm>
            <a:off x="457200" y="458114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6" name="Text 14"/>
          <p:cNvSpPr txBox="1"/>
          <p:nvPr/>
        </p:nvSpPr>
        <p:spPr>
          <a:xfrm>
            <a:off x="1143000" y="4507992"/>
            <a:ext cx="10607040" cy="658368"/>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Handle the limitations mentioned.</a:t>
            </a:r>
            <a:endParaRPr lang="en-US" sz="1500" dirty="0"/>
          </a:p>
        </p:txBody>
      </p:sp>
      <p:sp>
        <p:nvSpPr>
          <p:cNvPr id="17" name="number"/>
          <p:cNvSpPr/>
          <p:nvPr/>
        </p:nvSpPr>
        <p:spPr>
          <a:xfrm>
            <a:off x="457200" y="5513832"/>
            <a:ext cx="502920" cy="502920"/>
          </a:xfrm>
          <a:prstGeom prst="roundRect">
            <a:avLst>
              <a:gd name="adj" fmla="val 10909"/>
            </a:avLst>
          </a:prstGeom>
          <a:solidFill>
            <a:srgbClr val="1B4332"/>
          </a:solidFill>
          <a:ln w="12700">
            <a:solidFill>
              <a:srgbClr val="1B4332"/>
            </a:solidFill>
            <a:prstDash val="solid"/>
          </a:ln>
        </p:spPr>
      </p:sp>
      <p:sp>
        <p:nvSpPr>
          <p:cNvPr id="18" name="Text 16"/>
          <p:cNvSpPr txBox="1"/>
          <p:nvPr/>
        </p:nvSpPr>
        <p:spPr>
          <a:xfrm>
            <a:off x="457200" y="551383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19" name="Text 17"/>
          <p:cNvSpPr txBox="1"/>
          <p:nvPr/>
        </p:nvSpPr>
        <p:spPr>
          <a:xfrm>
            <a:off x="1143000" y="5440680"/>
            <a:ext cx="10607040" cy="658368"/>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Private-sector results jump wasn't reliable. Likely driven by a reporting shift between 2018 and 2019.</a:t>
            </a:r>
            <a:endParaRPr lang="en-US" sz="1500" dirty="0"/>
          </a:p>
        </p:txBody>
      </p:sp>
      <p:sp>
        <p:nvSpPr>
          <p:cNvPr id="25" name="Slide Number Placeholder 0"/>
          <p:cNvSpPr>
            <a:spLocks noGrp="1"/>
          </p:cNvSpPr>
          <p:nvPr>
            <p:ph type="sldNum" sz="quarter" idx="4294967295"/>
          </p:nvPr>
        </p:nvSpPr>
        <p:spPr>
          <a:xfrm>
            <a:off x="11277295" y="6510528"/>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6B6B6B"/>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Group 6">
  <a:themeElements>
    <a:clrScheme name="Group 6">
      <a:dk1>
        <a:srgbClr val="0F2A1D"/>
      </a:dk1>
      <a:lt1>
        <a:srgbClr val="FFFFFF"/>
      </a:lt1>
      <a:dk2>
        <a:srgbClr val="1B4332"/>
      </a:dk2>
      <a:lt2>
        <a:srgbClr val="F8F5F0"/>
      </a:lt2>
      <a:accent1>
        <a:srgbClr val="1B4332"/>
      </a:accent1>
      <a:accent2>
        <a:srgbClr val="D4A373"/>
      </a:accent2>
      <a:accent3>
        <a:srgbClr val="6B6B6B"/>
      </a:accent3>
      <a:accent4>
        <a:srgbClr val="E5E0D8"/>
      </a:accent4>
      <a:accent5>
        <a:srgbClr val="2B2B2B"/>
      </a:accent5>
      <a:accent6>
        <a:srgbClr val="F1ECE4"/>
      </a:accent6>
      <a:hlink>
        <a:srgbClr val="1B4332"/>
      </a:hlink>
      <a:folHlink>
        <a:srgbClr val="6B6B6B"/>
      </a:folHlink>
    </a:clrScheme>
    <a:fontScheme name="Group 6">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School Infrastructure &amp; Learning Conditions</dc:title>
  <dc:subject>PptxGenJS Presentation</dc:subject>
  <dc:creator>Group 6</dc:creator>
  <cp:lastModifiedBy>Group 6</cp:lastModifiedBy>
  <cp:revision>1</cp:revision>
  <dcterms:created xsi:type="dcterms:W3CDTF">2026-10-05T09:52:18Z</dcterms:created>
  <dcterms:modified xsi:type="dcterms:W3CDTF">2026-10-05T09:52:18Z</dcterms:modified>
</cp:coreProperties>
</file>